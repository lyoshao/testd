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6858000" cy="9144000"/>
  <p:embeddedFontLst>
    <p:embeddedFont>
      <p:font typeface="Comfortaa" panose="020B0604020202020204" charset="0"/>
      <p:regular r:id="rId11"/>
      <p:bold r:id="rId12"/>
    </p:embeddedFont>
    <p:embeddedFont>
      <p:font typeface="Helvetica Neue" panose="020B0604020202020204" charset="0"/>
      <p:regular r:id="rId13"/>
      <p:bold r:id="rId14"/>
      <p:italic r:id="rId15"/>
      <p:boldItalic r:id="rId16"/>
    </p:embeddedFont>
    <p:embeddedFont>
      <p:font typeface="Montserrat" panose="00000500000000000000" pitchFamily="2" charset="-52"/>
      <p:regular r:id="rId17"/>
      <p:bold r:id="rId18"/>
      <p:italic r:id="rId19"/>
      <p:boldItalic r:id="rId20"/>
    </p:embeddedFont>
    <p:embeddedFont>
      <p:font typeface="Raleway" pitchFamily="2" charset="-52"/>
      <p:regular r:id="rId21"/>
      <p:bold r:id="rId22"/>
      <p:italic r:id="rId23"/>
      <p:boldItalic r:id="rId24"/>
    </p:embeddedFont>
    <p:embeddedFont>
      <p:font typeface="Roboto" panose="02000000000000000000" pitchFamily="2" charset="0"/>
      <p:regular r:id="rId25"/>
      <p:bold r:id="rId26"/>
      <p:italic r:id="rId27"/>
      <p:boldItalic r:id="rId2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36" roundtripDataSignature="AMtx7mj/qCpv9ToHMq5iVO6AhPAWl5ZeP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67A5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86" d="100"/>
          <a:sy n="186" d="100"/>
        </p:scale>
        <p:origin x="180" y="36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font" Target="fonts/font3.fntdata"/><Relationship Id="rId18" Type="http://schemas.openxmlformats.org/officeDocument/2006/relationships/font" Target="fonts/font8.fntdata"/><Relationship Id="rId26" Type="http://schemas.openxmlformats.org/officeDocument/2006/relationships/font" Target="fonts/font16.fntdata"/><Relationship Id="rId39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11.fntdata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font" Target="fonts/font7.fntdata"/><Relationship Id="rId25" Type="http://schemas.openxmlformats.org/officeDocument/2006/relationships/font" Target="fonts/font15.fntdata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6.fntdata"/><Relationship Id="rId20" Type="http://schemas.openxmlformats.org/officeDocument/2006/relationships/font" Target="fonts/font10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24" Type="http://schemas.openxmlformats.org/officeDocument/2006/relationships/font" Target="fonts/font14.fntdata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23" Type="http://schemas.openxmlformats.org/officeDocument/2006/relationships/font" Target="fonts/font13.fntdata"/><Relationship Id="rId28" Type="http://schemas.openxmlformats.org/officeDocument/2006/relationships/font" Target="fonts/font18.fntdata"/><Relationship Id="rId36" Type="http://customschemas.google.com/relationships/presentationmetadata" Target="metadata"/><Relationship Id="rId10" Type="http://schemas.openxmlformats.org/officeDocument/2006/relationships/notesMaster" Target="notesMasters/notesMaster1.xml"/><Relationship Id="rId19" Type="http://schemas.openxmlformats.org/officeDocument/2006/relationships/font" Target="fonts/font9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Relationship Id="rId22" Type="http://schemas.openxmlformats.org/officeDocument/2006/relationships/font" Target="fonts/font12.fntdata"/><Relationship Id="rId27" Type="http://schemas.openxmlformats.org/officeDocument/2006/relationships/font" Target="fonts/font17.fntdata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g2bd3e5c4b55_0_61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54" name="Google Shape;54;g2bd3e5c4b55_0_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24463cab762_0_1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64" name="Google Shape;64;g24463cab762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24463cab762_0_76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80" name="Google Shape;80;g24463cab762_0_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2d9b3813896_1_42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96" name="Google Shape;96;g2d9b3813896_1_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2bd3e5c4b55_0_24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13" name="Google Shape;113;g2bd3e5c4b55_0_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2bc48e537c7_0_219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29" name="Google Shape;129;g2bc48e537c7_0_2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24463cab762_0_136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45" name="Google Shape;145;g24463cab762_0_1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2d9b3813896_1_20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60" name="Google Shape;160;g2d9b3813896_1_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итульный слайд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0"/>
          <p:cNvSpPr txBox="1">
            <a:spLocks noGrp="1"/>
          </p:cNvSpPr>
          <p:nvPr>
            <p:ph type="title"/>
          </p:nvPr>
        </p:nvSpPr>
        <p:spPr>
          <a:xfrm>
            <a:off x="1143000" y="841771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b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Calibri"/>
              <a:buNone/>
              <a:defRPr sz="45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1" name="Google Shape;11;p20"/>
          <p:cNvSpPr txBox="1">
            <a:spLocks noGrp="1"/>
          </p:cNvSpPr>
          <p:nvPr>
            <p:ph type="body" idx="1"/>
          </p:nvPr>
        </p:nvSpPr>
        <p:spPr>
          <a:xfrm>
            <a:off x="1143000" y="2701527"/>
            <a:ext cx="6858000" cy="124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>
            <a:lvl1pPr marL="457200" lvl="0" indent="-228600" algn="ctr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/>
            </a:lvl1pPr>
            <a:lvl2pPr marL="914400" lvl="1" indent="-228600" algn="ctr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/>
            </a:lvl2pPr>
            <a:lvl3pPr marL="1371600" lvl="2" indent="-228600" algn="ctr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/>
            </a:lvl3pPr>
            <a:lvl4pPr marL="1828800" lvl="3" indent="-228600" algn="ctr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/>
            </a:lvl4pPr>
            <a:lvl5pPr marL="2286000" lvl="4" indent="-228600" algn="ctr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/>
            </a:lvl5pPr>
            <a:lvl6pPr marL="2743200" lvl="5" indent="-3429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2" name="Google Shape;12;p20"/>
          <p:cNvSpPr txBox="1">
            <a:spLocks noGrp="1"/>
          </p:cNvSpPr>
          <p:nvPr>
            <p:ph type="sldNum" idx="12"/>
          </p:nvPr>
        </p:nvSpPr>
        <p:spPr>
          <a:xfrm>
            <a:off x="8295347" y="4801228"/>
            <a:ext cx="219900" cy="20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 и объект" type="tx">
  <p:cSld name="TITLE_AND_BODY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1"/>
          <p:cNvSpPr txBox="1">
            <a:spLocks noGrp="1"/>
          </p:cNvSpPr>
          <p:nvPr>
            <p:ph type="title"/>
          </p:nvPr>
        </p:nvSpPr>
        <p:spPr>
          <a:xfrm>
            <a:off x="628650" y="273843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21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6" name="Google Shape;16;p21"/>
          <p:cNvSpPr txBox="1">
            <a:spLocks noGrp="1"/>
          </p:cNvSpPr>
          <p:nvPr>
            <p:ph type="sldNum" idx="12"/>
          </p:nvPr>
        </p:nvSpPr>
        <p:spPr>
          <a:xfrm>
            <a:off x="8295347" y="4801228"/>
            <a:ext cx="219900" cy="20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 раздела">
  <p:cSld name="Заголовок раздела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2"/>
          <p:cNvSpPr txBox="1">
            <a:spLocks noGrp="1"/>
          </p:cNvSpPr>
          <p:nvPr>
            <p:ph type="title"/>
          </p:nvPr>
        </p:nvSpPr>
        <p:spPr>
          <a:xfrm>
            <a:off x="623887" y="1282303"/>
            <a:ext cx="7886700" cy="213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Calibri"/>
              <a:buNone/>
              <a:defRPr sz="45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22"/>
          <p:cNvSpPr txBox="1">
            <a:spLocks noGrp="1"/>
          </p:cNvSpPr>
          <p:nvPr>
            <p:ph type="body" idx="1"/>
          </p:nvPr>
        </p:nvSpPr>
        <p:spPr>
          <a:xfrm>
            <a:off x="623887" y="3442098"/>
            <a:ext cx="7886700" cy="112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Calibri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Calibri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Calibri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Calibri"/>
              <a:buNone/>
              <a:defRPr sz="18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Calibri"/>
              <a:buNone/>
              <a:defRPr sz="1800">
                <a:solidFill>
                  <a:srgbClr val="888888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" name="Google Shape;20;p22"/>
          <p:cNvSpPr txBox="1">
            <a:spLocks noGrp="1"/>
          </p:cNvSpPr>
          <p:nvPr>
            <p:ph type="sldNum" idx="12"/>
          </p:nvPr>
        </p:nvSpPr>
        <p:spPr>
          <a:xfrm>
            <a:off x="8295347" y="4801228"/>
            <a:ext cx="219900" cy="20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Два объекта">
  <p:cSld name="Два объекта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3"/>
          <p:cNvSpPr txBox="1">
            <a:spLocks noGrp="1"/>
          </p:cNvSpPr>
          <p:nvPr>
            <p:ph type="title"/>
          </p:nvPr>
        </p:nvSpPr>
        <p:spPr>
          <a:xfrm>
            <a:off x="628650" y="273843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23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3886200" cy="3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23"/>
          <p:cNvSpPr txBox="1">
            <a:spLocks noGrp="1"/>
          </p:cNvSpPr>
          <p:nvPr>
            <p:ph type="sldNum" idx="12"/>
          </p:nvPr>
        </p:nvSpPr>
        <p:spPr>
          <a:xfrm>
            <a:off x="8295347" y="4801228"/>
            <a:ext cx="219900" cy="20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равнение">
  <p:cSld name="Сравнение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24"/>
          <p:cNvSpPr txBox="1">
            <a:spLocks noGrp="1"/>
          </p:cNvSpPr>
          <p:nvPr>
            <p:ph type="title"/>
          </p:nvPr>
        </p:nvSpPr>
        <p:spPr>
          <a:xfrm>
            <a:off x="629841" y="273843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24"/>
          <p:cNvSpPr txBox="1">
            <a:spLocks noGrp="1"/>
          </p:cNvSpPr>
          <p:nvPr>
            <p:ph type="body" idx="1"/>
          </p:nvPr>
        </p:nvSpPr>
        <p:spPr>
          <a:xfrm>
            <a:off x="629841" y="1260871"/>
            <a:ext cx="3868200" cy="6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b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 b="1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lvl="1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 b="1"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lvl="2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 b="1"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lvl="3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 b="1"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lvl="4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 b="1"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lvl="5" indent="-3429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8" name="Google Shape;28;p24"/>
          <p:cNvSpPr txBox="1">
            <a:spLocks noGrp="1"/>
          </p:cNvSpPr>
          <p:nvPr>
            <p:ph type="body" idx="2"/>
          </p:nvPr>
        </p:nvSpPr>
        <p:spPr>
          <a:xfrm>
            <a:off x="4629149" y="1260871"/>
            <a:ext cx="3887400" cy="6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b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9" name="Google Shape;29;p24"/>
          <p:cNvSpPr txBox="1">
            <a:spLocks noGrp="1"/>
          </p:cNvSpPr>
          <p:nvPr>
            <p:ph type="sldNum" idx="12"/>
          </p:nvPr>
        </p:nvSpPr>
        <p:spPr>
          <a:xfrm>
            <a:off x="8295347" y="4801228"/>
            <a:ext cx="219900" cy="20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олько заголовок">
  <p:cSld name="Только заголовок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25"/>
          <p:cNvSpPr txBox="1">
            <a:spLocks noGrp="1"/>
          </p:cNvSpPr>
          <p:nvPr>
            <p:ph type="title"/>
          </p:nvPr>
        </p:nvSpPr>
        <p:spPr>
          <a:xfrm>
            <a:off x="628650" y="273843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25"/>
          <p:cNvSpPr txBox="1">
            <a:spLocks noGrp="1"/>
          </p:cNvSpPr>
          <p:nvPr>
            <p:ph type="sldNum" idx="12"/>
          </p:nvPr>
        </p:nvSpPr>
        <p:spPr>
          <a:xfrm>
            <a:off x="8295347" y="4801228"/>
            <a:ext cx="219900" cy="20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Пустой слайд">
  <p:cSld name="Пустой слайд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6"/>
          <p:cNvSpPr txBox="1">
            <a:spLocks noGrp="1"/>
          </p:cNvSpPr>
          <p:nvPr>
            <p:ph type="sldNum" idx="12"/>
          </p:nvPr>
        </p:nvSpPr>
        <p:spPr>
          <a:xfrm>
            <a:off x="8295347" y="4801228"/>
            <a:ext cx="219900" cy="20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Объект с подписью">
  <p:cSld name="Объект с подписью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27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300" cy="12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  <a:defRPr sz="24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27"/>
          <p:cNvSpPr txBox="1">
            <a:spLocks noGrp="1"/>
          </p:cNvSpPr>
          <p:nvPr>
            <p:ph type="body" idx="1"/>
          </p:nvPr>
        </p:nvSpPr>
        <p:spPr>
          <a:xfrm>
            <a:off x="3887391" y="740568"/>
            <a:ext cx="4629300" cy="36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>
            <a:lvl1pPr marL="457200" lvl="0" indent="-381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2400"/>
              <a:buChar char="•"/>
              <a:defRPr sz="2400"/>
            </a:lvl1pPr>
            <a:lvl2pPr marL="914400" lvl="1" indent="-381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2400"/>
              <a:buChar char="•"/>
              <a:defRPr sz="2400"/>
            </a:lvl2pPr>
            <a:lvl3pPr marL="1371600" lvl="2" indent="-381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2400"/>
              <a:buChar char="•"/>
              <a:defRPr sz="2400"/>
            </a:lvl3pPr>
            <a:lvl4pPr marL="1828800" lvl="3" indent="-381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2400"/>
              <a:buChar char="•"/>
              <a:defRPr sz="2400"/>
            </a:lvl4pPr>
            <a:lvl5pPr marL="2286000" lvl="4" indent="-381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2400"/>
              <a:buChar char="•"/>
              <a:defRPr sz="2400"/>
            </a:lvl5pPr>
            <a:lvl6pPr marL="2743200" lvl="5" indent="-3429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8" name="Google Shape;38;p27"/>
          <p:cNvSpPr txBox="1">
            <a:spLocks noGrp="1"/>
          </p:cNvSpPr>
          <p:nvPr>
            <p:ph type="body" idx="2"/>
          </p:nvPr>
        </p:nvSpPr>
        <p:spPr>
          <a:xfrm>
            <a:off x="629840" y="1543049"/>
            <a:ext cx="2949300" cy="28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9" name="Google Shape;39;p27"/>
          <p:cNvSpPr txBox="1">
            <a:spLocks noGrp="1"/>
          </p:cNvSpPr>
          <p:nvPr>
            <p:ph type="sldNum" idx="12"/>
          </p:nvPr>
        </p:nvSpPr>
        <p:spPr>
          <a:xfrm>
            <a:off x="8295347" y="4801228"/>
            <a:ext cx="219900" cy="20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Рисунок с подписью">
  <p:cSld name="Рисунок с подписью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8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300" cy="12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  <a:defRPr sz="24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28"/>
          <p:cNvSpPr>
            <a:spLocks noGrp="1"/>
          </p:cNvSpPr>
          <p:nvPr>
            <p:ph type="pic" idx="2"/>
          </p:nvPr>
        </p:nvSpPr>
        <p:spPr>
          <a:xfrm>
            <a:off x="3887391" y="740568"/>
            <a:ext cx="4629300" cy="3655200"/>
          </a:xfrm>
          <a:prstGeom prst="rect">
            <a:avLst/>
          </a:prstGeom>
          <a:noFill/>
          <a:ln>
            <a:noFill/>
          </a:ln>
        </p:spPr>
      </p:sp>
      <p:sp>
        <p:nvSpPr>
          <p:cNvPr id="43" name="Google Shape;43;p28"/>
          <p:cNvSpPr txBox="1">
            <a:spLocks noGrp="1"/>
          </p:cNvSpPr>
          <p:nvPr>
            <p:ph type="body" idx="1"/>
          </p:nvPr>
        </p:nvSpPr>
        <p:spPr>
          <a:xfrm>
            <a:off x="629841" y="1543050"/>
            <a:ext cx="2949300" cy="28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/>
            </a:lvl2pPr>
            <a:lvl3pPr marL="1371600" lvl="2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/>
            </a:lvl4pPr>
            <a:lvl5pPr marL="2286000" lvl="4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/>
            </a:lvl5pPr>
            <a:lvl6pPr marL="2743200" lvl="5" indent="-3429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4" name="Google Shape;44;p28"/>
          <p:cNvSpPr txBox="1">
            <a:spLocks noGrp="1"/>
          </p:cNvSpPr>
          <p:nvPr>
            <p:ph type="sldNum" idx="12"/>
          </p:nvPr>
        </p:nvSpPr>
        <p:spPr>
          <a:xfrm>
            <a:off x="8295347" y="4801228"/>
            <a:ext cx="219900" cy="20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_AND_BODY">
  <p:cSld name="TITLE_AND_BODY 2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9"/>
          <p:cNvSpPr txBox="1">
            <a:spLocks noGrp="1"/>
          </p:cNvSpPr>
          <p:nvPr>
            <p:ph type="title"/>
          </p:nvPr>
        </p:nvSpPr>
        <p:spPr>
          <a:xfrm>
            <a:off x="311699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91400" rIns="91400" bIns="914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29"/>
          <p:cNvSpPr txBox="1">
            <a:spLocks noGrp="1"/>
          </p:cNvSpPr>
          <p:nvPr>
            <p:ph type="body" idx="1"/>
          </p:nvPr>
        </p:nvSpPr>
        <p:spPr>
          <a:xfrm>
            <a:off x="311699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91400" rIns="91400" bIns="91400" anchor="t" anchorCtr="0">
            <a:no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8" name="Google Shape;48;p29"/>
          <p:cNvSpPr txBox="1">
            <a:spLocks noGrp="1"/>
          </p:cNvSpPr>
          <p:nvPr>
            <p:ph type="sldNum" idx="12"/>
          </p:nvPr>
        </p:nvSpPr>
        <p:spPr>
          <a:xfrm>
            <a:off x="8684345" y="4700819"/>
            <a:ext cx="336900" cy="31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91400" rIns="91400" bIns="914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8585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8585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8585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8585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8585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8585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8585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8585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8585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900">
              <a:solidFill>
                <a:srgbClr val="888888"/>
              </a:solidFill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Content" type="obj">
  <p:cSld name="OBJECT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g1c2e29e70e6_0_929"/>
          <p:cNvSpPr txBox="1">
            <a:spLocks noGrp="1"/>
          </p:cNvSpPr>
          <p:nvPr>
            <p:ph type="title"/>
          </p:nvPr>
        </p:nvSpPr>
        <p:spPr>
          <a:xfrm>
            <a:off x="729360" y="1318680"/>
            <a:ext cx="7688400" cy="53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g1c2e29e70e6_0_929"/>
          <p:cNvSpPr txBox="1">
            <a:spLocks noGrp="1"/>
          </p:cNvSpPr>
          <p:nvPr>
            <p:ph type="body" idx="1"/>
          </p:nvPr>
        </p:nvSpPr>
        <p:spPr>
          <a:xfrm>
            <a:off x="729360" y="2079000"/>
            <a:ext cx="7688400" cy="226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2100"/>
              <a:buNone/>
              <a:defRPr/>
            </a:lvl1pPr>
            <a:lvl2pPr marL="914400" lvl="1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21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21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21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2100"/>
              <a:buNone/>
              <a:defRPr/>
            </a:lvl5pPr>
            <a:lvl6pPr marL="2743200" lvl="5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2100"/>
              <a:buNone/>
              <a:defRPr/>
            </a:lvl6pPr>
            <a:lvl7pPr marL="3200400" lvl="6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2100"/>
              <a:buNone/>
              <a:defRPr/>
            </a:lvl7pPr>
            <a:lvl8pPr marL="3657600" lvl="7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2100"/>
              <a:buNone/>
              <a:defRPr/>
            </a:lvl8pPr>
            <a:lvl9pPr marL="4114800" lvl="8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21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9"/>
          <p:cNvSpPr txBox="1">
            <a:spLocks noGrp="1"/>
          </p:cNvSpPr>
          <p:nvPr>
            <p:ph type="title"/>
          </p:nvPr>
        </p:nvSpPr>
        <p:spPr>
          <a:xfrm>
            <a:off x="628650" y="273843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Calibri"/>
              <a:buNone/>
              <a:defRPr sz="33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Calibri"/>
              <a:buNone/>
              <a:defRPr sz="33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Calibri"/>
              <a:buNone/>
              <a:defRPr sz="33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Calibri"/>
              <a:buNone/>
              <a:defRPr sz="33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Calibri"/>
              <a:buNone/>
              <a:defRPr sz="33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Calibri"/>
              <a:buNone/>
              <a:defRPr sz="33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Calibri"/>
              <a:buNone/>
              <a:defRPr sz="33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Calibri"/>
              <a:buNone/>
              <a:defRPr sz="33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Calibri"/>
              <a:buNone/>
              <a:defRPr sz="33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p19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61950" algn="l" rtl="0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61950" algn="l" rtl="0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61950" algn="l" rtl="0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61950" algn="l" rtl="0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61950" algn="l" rtl="0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61950" algn="l" rtl="0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61950" algn="l" rtl="0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61950" algn="l" rtl="0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9"/>
          <p:cNvSpPr txBox="1">
            <a:spLocks noGrp="1"/>
          </p:cNvSpPr>
          <p:nvPr>
            <p:ph type="sldNum" idx="12"/>
          </p:nvPr>
        </p:nvSpPr>
        <p:spPr>
          <a:xfrm>
            <a:off x="8295347" y="4801228"/>
            <a:ext cx="219900" cy="20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jp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jp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4.png"/><Relationship Id="rId7" Type="http://schemas.openxmlformats.org/officeDocument/2006/relationships/image" Target="../media/image9.svg"/><Relationship Id="rId12" Type="http://schemas.openxmlformats.org/officeDocument/2006/relationships/image" Target="../media/image5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11" Type="http://schemas.openxmlformats.org/officeDocument/2006/relationships/image" Target="../media/image13.png"/><Relationship Id="rId5" Type="http://schemas.openxmlformats.org/officeDocument/2006/relationships/image" Target="../media/image7.png"/><Relationship Id="rId10" Type="http://schemas.openxmlformats.org/officeDocument/2006/relationships/image" Target="../media/image12.png"/><Relationship Id="rId4" Type="http://schemas.openxmlformats.org/officeDocument/2006/relationships/image" Target="../media/image6.png"/><Relationship Id="rId9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jp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4.png"/><Relationship Id="rId4" Type="http://schemas.openxmlformats.org/officeDocument/2006/relationships/image" Target="../media/image5.jp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" name="Google Shape;56;g2bd3e5c4b55_0_61" descr="Рисунок 3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1605"/>
            <a:ext cx="9143999" cy="5140289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g2bd3e5c4b55_0_61"/>
          <p:cNvSpPr txBox="1"/>
          <p:nvPr/>
        </p:nvSpPr>
        <p:spPr>
          <a:xfrm>
            <a:off x="217625" y="2571750"/>
            <a:ext cx="4268100" cy="71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rial"/>
              <a:buNone/>
            </a:pPr>
            <a:endParaRPr sz="300" b="1" dirty="0">
              <a:latin typeface="Comfortaa"/>
              <a:ea typeface="Comfortaa"/>
              <a:cs typeface="Comfortaa"/>
              <a:sym typeface="Comfortaa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rial"/>
              <a:buNone/>
            </a:pPr>
            <a:r>
              <a:rPr lang="en-US" sz="1800" b="1" dirty="0">
                <a:solidFill>
                  <a:srgbClr val="1A1A1A"/>
                </a:solidFill>
                <a:latin typeface="Raleway"/>
                <a:ea typeface="Raleway"/>
                <a:cs typeface="Raleway"/>
                <a:sym typeface="Raleway"/>
              </a:rPr>
              <a:t>Автоматизация тестов для проверки работоспособности сайта wildberries.by</a:t>
            </a:r>
            <a:endParaRPr sz="100" b="1" i="0" u="none" strike="noStrike" cap="none" dirty="0">
              <a:solidFill>
                <a:srgbClr val="000000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pic>
        <p:nvPicPr>
          <p:cNvPr id="58" name="Google Shape;58;g2bd3e5c4b55_0_61" descr="Рисунок 3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485735" y="1605"/>
            <a:ext cx="4658265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9" name="Google Shape;59;g2bd3e5c4b55_0_61" descr="Рисунок 34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25818" y="1"/>
            <a:ext cx="1084422" cy="1374458"/>
          </a:xfrm>
          <a:prstGeom prst="rect">
            <a:avLst/>
          </a:prstGeom>
          <a:noFill/>
          <a:ln>
            <a:noFill/>
          </a:ln>
        </p:spPr>
      </p:pic>
      <p:sp>
        <p:nvSpPr>
          <p:cNvPr id="60" name="Google Shape;60;g2bd3e5c4b55_0_61"/>
          <p:cNvSpPr txBox="1"/>
          <p:nvPr/>
        </p:nvSpPr>
        <p:spPr>
          <a:xfrm>
            <a:off x="304025" y="4594100"/>
            <a:ext cx="1658339" cy="36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 sz="1300" b="1" dirty="0">
                <a:solidFill>
                  <a:schemeClr val="dk1"/>
                </a:solidFill>
              </a:rPr>
              <a:t>Aliaksei Kryvenok</a:t>
            </a:r>
            <a:endParaRPr sz="1300" b="1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" name="Google Shape;61;g2bd3e5c4b55_0_61"/>
          <p:cNvSpPr txBox="1"/>
          <p:nvPr/>
        </p:nvSpPr>
        <p:spPr>
          <a:xfrm>
            <a:off x="304025" y="1054611"/>
            <a:ext cx="3756300" cy="77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rial"/>
              <a:buNone/>
            </a:pPr>
            <a:r>
              <a:rPr lang="en-US" sz="2100" b="1">
                <a:solidFill>
                  <a:srgbClr val="1A1A1A"/>
                </a:solidFill>
                <a:latin typeface="Raleway"/>
                <a:ea typeface="Raleway"/>
                <a:cs typeface="Raleway"/>
                <a:sym typeface="Raleway"/>
              </a:rPr>
              <a:t>Дипломная работа</a:t>
            </a:r>
            <a:endParaRPr sz="100" b="1" i="0" u="none" strike="noStrike" cap="none">
              <a:solidFill>
                <a:srgbClr val="000000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Google Shape;66;g24463cab762_0_1" descr="Рисунок 43"/>
          <p:cNvPicPr preferRelativeResize="0"/>
          <p:nvPr/>
        </p:nvPicPr>
        <p:blipFill rotWithShape="1">
          <a:blip r:embed="rId3">
            <a:alphaModFix/>
          </a:blip>
          <a:srcRect b="33409"/>
          <a:stretch/>
        </p:blipFill>
        <p:spPr>
          <a:xfrm>
            <a:off x="530226" y="1718391"/>
            <a:ext cx="2571751" cy="3425110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g24463cab762_0_1"/>
          <p:cNvSpPr/>
          <p:nvPr/>
        </p:nvSpPr>
        <p:spPr>
          <a:xfrm>
            <a:off x="720000" y="0"/>
            <a:ext cx="7735200" cy="5143500"/>
          </a:xfrm>
          <a:prstGeom prst="rect">
            <a:avLst/>
          </a:prstGeom>
          <a:solidFill>
            <a:srgbClr val="F7F7F8"/>
          </a:soli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endParaRPr sz="1800" b="0" i="0" u="none" strike="noStrike" cap="none" dirty="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g24463cab762_0_1"/>
          <p:cNvSpPr txBox="1">
            <a:spLocks noGrp="1"/>
          </p:cNvSpPr>
          <p:nvPr>
            <p:ph type="sldNum" idx="4294967295"/>
          </p:nvPr>
        </p:nvSpPr>
        <p:spPr>
          <a:xfrm>
            <a:off x="271708" y="384810"/>
            <a:ext cx="174900" cy="24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b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Montserrat"/>
              <a:buNone/>
            </a:pPr>
            <a:fld id="{00000000-1234-1234-1234-123412341234}" type="slidenum">
              <a:rPr lang="en-US" sz="10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2</a:t>
            </a:fld>
            <a:endParaRPr/>
          </a:p>
        </p:txBody>
      </p:sp>
      <p:grpSp>
        <p:nvGrpSpPr>
          <p:cNvPr id="69" name="Google Shape;69;g24463cab762_0_1"/>
          <p:cNvGrpSpPr/>
          <p:nvPr/>
        </p:nvGrpSpPr>
        <p:grpSpPr>
          <a:xfrm>
            <a:off x="274005" y="700087"/>
            <a:ext cx="180300" cy="4068812"/>
            <a:chOff x="0" y="0"/>
            <a:chExt cx="180300" cy="4068812"/>
          </a:xfrm>
        </p:grpSpPr>
        <p:sp>
          <p:nvSpPr>
            <p:cNvPr id="70" name="Google Shape;70;g24463cab762_0_1"/>
            <p:cNvSpPr txBox="1"/>
            <p:nvPr/>
          </p:nvSpPr>
          <p:spPr>
            <a:xfrm rot="-5400000">
              <a:off x="-603900" y="1794218"/>
              <a:ext cx="1388100" cy="180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700" tIns="45700" rIns="45700" bIns="45700" anchor="b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00"/>
                <a:buFont typeface="Montserrat"/>
                <a:buNone/>
              </a:pPr>
              <a:r>
                <a:rPr lang="en-US" sz="600" b="0" i="0" u="none" strike="noStrike" cap="none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teachmeskills.by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71" name="Google Shape;71;g24463cab762_0_1"/>
            <p:cNvCxnSpPr/>
            <p:nvPr/>
          </p:nvCxnSpPr>
          <p:spPr>
            <a:xfrm>
              <a:off x="93344" y="2436812"/>
              <a:ext cx="0" cy="1632000"/>
            </a:xfrm>
            <a:prstGeom prst="straightConnector1">
              <a:avLst/>
            </a:prstGeom>
            <a:noFill/>
            <a:ln w="9525" cap="flat" cmpd="sng">
              <a:solidFill>
                <a:srgbClr val="E3E4E5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72" name="Google Shape;72;g24463cab762_0_1"/>
            <p:cNvCxnSpPr/>
            <p:nvPr/>
          </p:nvCxnSpPr>
          <p:spPr>
            <a:xfrm>
              <a:off x="93344" y="0"/>
              <a:ext cx="0" cy="1363800"/>
            </a:xfrm>
            <a:prstGeom prst="straightConnector1">
              <a:avLst/>
            </a:prstGeom>
            <a:noFill/>
            <a:ln w="9525" cap="flat" cmpd="sng">
              <a:solidFill>
                <a:srgbClr val="E3E4E5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sp>
        <p:nvSpPr>
          <p:cNvPr id="73" name="Google Shape;73;g24463cab762_0_1"/>
          <p:cNvSpPr txBox="1">
            <a:spLocks noGrp="1"/>
          </p:cNvSpPr>
          <p:nvPr>
            <p:ph type="title"/>
          </p:nvPr>
        </p:nvSpPr>
        <p:spPr>
          <a:xfrm>
            <a:off x="719998" y="134344"/>
            <a:ext cx="7364575" cy="5012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b" anchorCtr="0">
            <a:noAutofit/>
          </a:bodyPr>
          <a:lstStyle/>
          <a:p>
            <a:pPr marL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600" b="1" dirty="0">
                <a:latin typeface="Arial"/>
                <a:ea typeface="Arial"/>
                <a:cs typeface="Arial"/>
                <a:sym typeface="Arial"/>
              </a:rPr>
              <a:t>Описание проекта</a:t>
            </a:r>
            <a:endParaRPr sz="2400" b="1" dirty="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g24463cab762_0_1"/>
          <p:cNvSpPr txBox="1"/>
          <p:nvPr/>
        </p:nvSpPr>
        <p:spPr>
          <a:xfrm>
            <a:off x="2063575" y="1806365"/>
            <a:ext cx="1142100" cy="106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b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1E2E6"/>
              </a:buClr>
              <a:buSzPts val="6400"/>
              <a:buFont typeface="Montserrat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" name="Google Shape;75;g24463cab762_0_1"/>
          <p:cNvSpPr txBox="1"/>
          <p:nvPr/>
        </p:nvSpPr>
        <p:spPr>
          <a:xfrm>
            <a:off x="2063575" y="2808990"/>
            <a:ext cx="1142100" cy="106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b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1E2E6"/>
              </a:buClr>
              <a:buSzPts val="6400"/>
              <a:buFont typeface="Montserrat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" name="Google Shape;76;g24463cab762_0_1"/>
          <p:cNvSpPr txBox="1"/>
          <p:nvPr/>
        </p:nvSpPr>
        <p:spPr>
          <a:xfrm>
            <a:off x="719999" y="589404"/>
            <a:ext cx="7364575" cy="441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just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ru-RU" sz="1200" b="1" dirty="0">
                <a:solidFill>
                  <a:srgbClr val="188038"/>
                </a:solidFill>
              </a:rPr>
              <a:t>Проект </a:t>
            </a:r>
            <a:r>
              <a:rPr lang="ru-RU" sz="1200" dirty="0">
                <a:solidFill>
                  <a:schemeClr val="tx1"/>
                </a:solidFill>
              </a:rPr>
              <a:t>предназначен для автоматизированного тестирования веб-сайта wildberries.by.</a:t>
            </a:r>
          </a:p>
          <a:p>
            <a:pPr marL="0" lvl="0" indent="0" algn="just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ru-RU" sz="1200" b="1" dirty="0">
                <a:solidFill>
                  <a:srgbClr val="188038"/>
                </a:solidFill>
              </a:rPr>
              <a:t>Основная цель </a:t>
            </a:r>
            <a:r>
              <a:rPr lang="ru-RU" sz="1200" dirty="0">
                <a:solidFill>
                  <a:schemeClr val="tx1"/>
                </a:solidFill>
              </a:rPr>
              <a:t>- автоматизация проверки ключевых функциональностей: навигация, поиск товаров, работа с каталогом и карточкой товаров.</a:t>
            </a:r>
          </a:p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lang="ru-RU" sz="1200" dirty="0">
              <a:solidFill>
                <a:schemeClr val="tx1"/>
              </a:solidFill>
            </a:endParaRPr>
          </a:p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 dirty="0">
                <a:solidFill>
                  <a:schemeClr val="dk1"/>
                </a:solidFill>
              </a:rPr>
              <a:t>Для реализации проекта использовались современные подходы к разработке тестовых фреймворков:</a:t>
            </a:r>
            <a:endParaRPr sz="1200" dirty="0">
              <a:solidFill>
                <a:schemeClr val="dk1"/>
              </a:solidFill>
            </a:endParaRPr>
          </a:p>
          <a:p>
            <a:pPr marL="457200" lvl="0" indent="-3175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US" sz="1200" b="1" dirty="0">
                <a:solidFill>
                  <a:schemeClr val="dk1"/>
                </a:solidFill>
              </a:rPr>
              <a:t>Page Object Pattern (POM) </a:t>
            </a:r>
            <a:r>
              <a:rPr lang="en-US" sz="1200" dirty="0">
                <a:solidFill>
                  <a:schemeClr val="dk1"/>
                </a:solidFill>
              </a:rPr>
              <a:t>- каждая ст</a:t>
            </a:r>
            <a:r>
              <a:rPr lang="ru-RU" sz="1200" dirty="0">
                <a:solidFill>
                  <a:schemeClr val="dk1"/>
                </a:solidFill>
              </a:rPr>
              <a:t>р</a:t>
            </a:r>
            <a:r>
              <a:rPr lang="en-US" sz="1200" dirty="0">
                <a:solidFill>
                  <a:schemeClr val="dk1"/>
                </a:solidFill>
              </a:rPr>
              <a:t>аница представлена отдельным классом.</a:t>
            </a:r>
            <a:endParaRPr lang="ru-RU" sz="1200" dirty="0">
              <a:solidFill>
                <a:schemeClr val="dk1"/>
              </a:solidFill>
            </a:endParaRPr>
          </a:p>
          <a:p>
            <a:pPr marL="540000" lvl="0" indent="-3175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urier New" panose="02070309020205020404" pitchFamily="49" charset="0"/>
              <a:buChar char="o"/>
            </a:pPr>
            <a:r>
              <a:rPr lang="en-US" sz="1200" dirty="0">
                <a:solidFill>
                  <a:srgbClr val="188038"/>
                </a:solidFill>
              </a:rPr>
              <a:t>MainPage</a:t>
            </a:r>
            <a:r>
              <a:rPr lang="en-US" sz="1200" dirty="0">
                <a:solidFill>
                  <a:schemeClr val="dk1"/>
                </a:solidFill>
              </a:rPr>
              <a:t>, </a:t>
            </a:r>
            <a:r>
              <a:rPr lang="en-US" sz="1200" dirty="0">
                <a:solidFill>
                  <a:srgbClr val="188038"/>
                </a:solidFill>
              </a:rPr>
              <a:t>SearchPage</a:t>
            </a:r>
            <a:r>
              <a:rPr lang="en-US" sz="1200" dirty="0">
                <a:solidFill>
                  <a:schemeClr val="tx1"/>
                </a:solidFill>
              </a:rPr>
              <a:t>, </a:t>
            </a:r>
            <a:r>
              <a:rPr lang="en-US" sz="1200" dirty="0">
                <a:solidFill>
                  <a:srgbClr val="188038"/>
                </a:solidFill>
              </a:rPr>
              <a:t>ProductPage</a:t>
            </a:r>
            <a:r>
              <a:rPr lang="en-US" sz="1200" dirty="0">
                <a:solidFill>
                  <a:schemeClr val="tx1"/>
                </a:solidFill>
              </a:rPr>
              <a:t> (</a:t>
            </a:r>
            <a:r>
              <a:rPr lang="ru-RU" sz="1200" dirty="0">
                <a:solidFill>
                  <a:schemeClr val="tx1"/>
                </a:solidFill>
              </a:rPr>
              <a:t>главная страница</a:t>
            </a:r>
            <a:r>
              <a:rPr lang="en-US" sz="1200" dirty="0">
                <a:solidFill>
                  <a:schemeClr val="tx1"/>
                </a:solidFill>
              </a:rPr>
              <a:t>,</a:t>
            </a:r>
            <a:r>
              <a:rPr lang="ru-RU" sz="1200" dirty="0">
                <a:solidFill>
                  <a:schemeClr val="tx1"/>
                </a:solidFill>
              </a:rPr>
              <a:t> результаты поиска</a:t>
            </a:r>
            <a:r>
              <a:rPr lang="en-US" sz="1200" dirty="0">
                <a:solidFill>
                  <a:schemeClr val="tx1"/>
                </a:solidFill>
              </a:rPr>
              <a:t>,</a:t>
            </a:r>
            <a:r>
              <a:rPr lang="ru-RU" sz="1200" dirty="0">
                <a:solidFill>
                  <a:schemeClr val="tx1"/>
                </a:solidFill>
              </a:rPr>
              <a:t> карточка товара)</a:t>
            </a:r>
            <a:r>
              <a:rPr lang="en-US" sz="1200" dirty="0">
                <a:solidFill>
                  <a:schemeClr val="tx1"/>
                </a:solidFill>
              </a:rPr>
              <a:t>.</a:t>
            </a:r>
            <a:r>
              <a:rPr lang="en-US" sz="1200" dirty="0">
                <a:solidFill>
                  <a:srgbClr val="188038"/>
                </a:solidFill>
              </a:rPr>
              <a:t> </a:t>
            </a:r>
            <a:r>
              <a:rPr lang="en-US" sz="1200" dirty="0">
                <a:solidFill>
                  <a:schemeClr val="dk1"/>
                </a:solidFill>
              </a:rPr>
              <a:t>Это позволяет отделить логику работы со страницей от тестовой логики, улучшая читаемость и поддержку кода.</a:t>
            </a:r>
            <a:endParaRPr sz="1200" dirty="0">
              <a:solidFill>
                <a:schemeClr val="dk1"/>
              </a:solidFill>
            </a:endParaRPr>
          </a:p>
          <a:p>
            <a:pPr marL="5400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urier New" panose="02070309020205020404" pitchFamily="49" charset="0"/>
              <a:buChar char="o"/>
            </a:pPr>
            <a:r>
              <a:rPr lang="en-US" sz="1200" dirty="0">
                <a:solidFill>
                  <a:srgbClr val="188038"/>
                </a:solidFill>
              </a:rPr>
              <a:t>BasePage </a:t>
            </a:r>
            <a:r>
              <a:rPr lang="en-US" sz="1200" dirty="0">
                <a:solidFill>
                  <a:schemeClr val="dk1"/>
                </a:solidFill>
              </a:rPr>
              <a:t>–</a:t>
            </a:r>
            <a:r>
              <a:rPr lang="en-US" sz="1200" b="1" dirty="0">
                <a:solidFill>
                  <a:schemeClr val="dk1"/>
                </a:solidFill>
              </a:rPr>
              <a:t> </a:t>
            </a:r>
            <a:r>
              <a:rPr lang="ru-RU" sz="1200" dirty="0">
                <a:solidFill>
                  <a:schemeClr val="tx1"/>
                </a:solidFill>
              </a:rPr>
              <a:t>базовый класс содержит общие методы для взаимодействия с элементами (клики</a:t>
            </a:r>
            <a:r>
              <a:rPr lang="en-US" sz="1200" dirty="0">
                <a:solidFill>
                  <a:schemeClr val="tx1"/>
                </a:solidFill>
              </a:rPr>
              <a:t>,</a:t>
            </a:r>
            <a:r>
              <a:rPr lang="ru-RU" sz="1200" dirty="0">
                <a:solidFill>
                  <a:schemeClr val="tx1"/>
                </a:solidFill>
              </a:rPr>
              <a:t> ввод текста</a:t>
            </a:r>
            <a:r>
              <a:rPr lang="en-US" sz="1200" dirty="0">
                <a:solidFill>
                  <a:schemeClr val="tx1"/>
                </a:solidFill>
              </a:rPr>
              <a:t>,</a:t>
            </a:r>
            <a:r>
              <a:rPr lang="ru-RU" sz="1200" dirty="0">
                <a:solidFill>
                  <a:schemeClr val="tx1"/>
                </a:solidFill>
              </a:rPr>
              <a:t> ожидание видимости элементов)</a:t>
            </a:r>
            <a:r>
              <a:rPr lang="ru-RU" sz="1200" dirty="0">
                <a:latin typeface="Arial" panose="020B0604020202020204" pitchFamily="34" charset="0"/>
                <a:cs typeface="Arial" panose="020B0604020202020204" pitchFamily="34" charset="0"/>
              </a:rPr>
              <a:t>. Это позволяет избежать дублирования кода и облегчает реализацию новых страниц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sz="1100" dirty="0">
              <a:solidFill>
                <a:srgbClr val="BCBEC4"/>
              </a:solidFill>
              <a:highlight>
                <a:srgbClr val="1E1F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100" dirty="0">
              <a:solidFill>
                <a:srgbClr val="BCBEC4"/>
              </a:solidFill>
              <a:highlight>
                <a:srgbClr val="1E1F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900" b="1"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dirty="0">
                <a:solidFill>
                  <a:schemeClr val="dk1"/>
                </a:solidFill>
              </a:rPr>
              <a:t> </a:t>
            </a:r>
            <a:endParaRPr dirty="0">
              <a:solidFill>
                <a:schemeClr val="dk1"/>
              </a:solidFill>
            </a:endParaRPr>
          </a:p>
          <a:p>
            <a:pPr marL="0" lvl="0" indent="0" algn="just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6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600" dirty="0">
              <a:solidFill>
                <a:schemeClr val="dk1"/>
              </a:solidFill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br>
              <a:rPr lang="en-US" sz="1100" dirty="0">
                <a:solidFill>
                  <a:schemeClr val="dk1"/>
                </a:solidFill>
              </a:rPr>
            </a:br>
            <a:endParaRPr sz="900" dirty="0">
              <a:solidFill>
                <a:schemeClr val="dk1"/>
              </a:solidFill>
            </a:endParaRPr>
          </a:p>
        </p:txBody>
      </p:sp>
      <p:pic>
        <p:nvPicPr>
          <p:cNvPr id="77" name="Google Shape;77;g24463cab762_0_1" descr="Рисунок 4"/>
          <p:cNvPicPr preferRelativeResize="0"/>
          <p:nvPr/>
        </p:nvPicPr>
        <p:blipFill rotWithShape="1">
          <a:blip r:embed="rId4">
            <a:alphaModFix/>
          </a:blip>
          <a:srcRect l="87441"/>
          <a:stretch/>
        </p:blipFill>
        <p:spPr>
          <a:xfrm>
            <a:off x="8084574" y="0"/>
            <a:ext cx="10584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" name="Google Shape;82;g24463cab762_0_76" descr="Рисунок 43"/>
          <p:cNvPicPr preferRelativeResize="0"/>
          <p:nvPr/>
        </p:nvPicPr>
        <p:blipFill rotWithShape="1">
          <a:blip r:embed="rId3">
            <a:alphaModFix/>
          </a:blip>
          <a:srcRect b="33409"/>
          <a:stretch/>
        </p:blipFill>
        <p:spPr>
          <a:xfrm>
            <a:off x="530226" y="1718391"/>
            <a:ext cx="2571751" cy="3425110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g24463cab762_0_76"/>
          <p:cNvSpPr/>
          <p:nvPr/>
        </p:nvSpPr>
        <p:spPr>
          <a:xfrm>
            <a:off x="720000" y="0"/>
            <a:ext cx="8181900" cy="5143500"/>
          </a:xfrm>
          <a:prstGeom prst="rect">
            <a:avLst/>
          </a:prstGeom>
          <a:solidFill>
            <a:srgbClr val="F7F7F8"/>
          </a:soli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g24463cab762_0_76"/>
          <p:cNvSpPr txBox="1">
            <a:spLocks noGrp="1"/>
          </p:cNvSpPr>
          <p:nvPr>
            <p:ph type="sldNum" idx="4294967295"/>
          </p:nvPr>
        </p:nvSpPr>
        <p:spPr>
          <a:xfrm>
            <a:off x="271708" y="384810"/>
            <a:ext cx="174900" cy="24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b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Montserrat"/>
              <a:buNone/>
            </a:pPr>
            <a:fld id="{00000000-1234-1234-1234-123412341234}" type="slidenum">
              <a:rPr lang="en-US" sz="10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3</a:t>
            </a:fld>
            <a:endParaRPr/>
          </a:p>
        </p:txBody>
      </p:sp>
      <p:grpSp>
        <p:nvGrpSpPr>
          <p:cNvPr id="85" name="Google Shape;85;g24463cab762_0_76"/>
          <p:cNvGrpSpPr/>
          <p:nvPr/>
        </p:nvGrpSpPr>
        <p:grpSpPr>
          <a:xfrm>
            <a:off x="274005" y="700087"/>
            <a:ext cx="180300" cy="4068812"/>
            <a:chOff x="0" y="0"/>
            <a:chExt cx="180300" cy="4068812"/>
          </a:xfrm>
        </p:grpSpPr>
        <p:sp>
          <p:nvSpPr>
            <p:cNvPr id="86" name="Google Shape;86;g24463cab762_0_76"/>
            <p:cNvSpPr txBox="1"/>
            <p:nvPr/>
          </p:nvSpPr>
          <p:spPr>
            <a:xfrm rot="-5400000">
              <a:off x="-603900" y="1794218"/>
              <a:ext cx="1388100" cy="180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700" tIns="45700" rIns="45700" bIns="45700" anchor="b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00"/>
                <a:buFont typeface="Montserrat"/>
                <a:buNone/>
              </a:pPr>
              <a:r>
                <a:rPr lang="en-US" sz="600" b="0" i="0" u="none" strike="noStrike" cap="none" dirty="0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teachmeskills.by</a:t>
              </a: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87" name="Google Shape;87;g24463cab762_0_76"/>
            <p:cNvCxnSpPr/>
            <p:nvPr/>
          </p:nvCxnSpPr>
          <p:spPr>
            <a:xfrm>
              <a:off x="93344" y="2436812"/>
              <a:ext cx="0" cy="1632000"/>
            </a:xfrm>
            <a:prstGeom prst="straightConnector1">
              <a:avLst/>
            </a:prstGeom>
            <a:noFill/>
            <a:ln w="9525" cap="flat" cmpd="sng">
              <a:solidFill>
                <a:srgbClr val="E3E4E5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88" name="Google Shape;88;g24463cab762_0_76"/>
            <p:cNvCxnSpPr/>
            <p:nvPr/>
          </p:nvCxnSpPr>
          <p:spPr>
            <a:xfrm>
              <a:off x="93344" y="0"/>
              <a:ext cx="0" cy="1363800"/>
            </a:xfrm>
            <a:prstGeom prst="straightConnector1">
              <a:avLst/>
            </a:prstGeom>
            <a:noFill/>
            <a:ln w="9525" cap="flat" cmpd="sng">
              <a:solidFill>
                <a:srgbClr val="E3E4E5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sp>
        <p:nvSpPr>
          <p:cNvPr id="89" name="Google Shape;89;g24463cab762_0_76"/>
          <p:cNvSpPr txBox="1">
            <a:spLocks noGrp="1"/>
          </p:cNvSpPr>
          <p:nvPr>
            <p:ph type="title"/>
          </p:nvPr>
        </p:nvSpPr>
        <p:spPr>
          <a:xfrm>
            <a:off x="719998" y="133200"/>
            <a:ext cx="7365600" cy="5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800" b="1" dirty="0">
                <a:latin typeface="Arial"/>
                <a:ea typeface="Arial"/>
                <a:cs typeface="Arial"/>
                <a:sym typeface="Arial"/>
              </a:rPr>
              <a:t>Чек-лист для проекта wildberries.by</a:t>
            </a:r>
            <a:endParaRPr sz="2800" b="1" dirty="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g24463cab762_0_76"/>
          <p:cNvSpPr txBox="1"/>
          <p:nvPr/>
        </p:nvSpPr>
        <p:spPr>
          <a:xfrm>
            <a:off x="2063575" y="1806365"/>
            <a:ext cx="1142100" cy="106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b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1E2E6"/>
              </a:buClr>
              <a:buSzPts val="6400"/>
              <a:buFont typeface="Montserrat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g24463cab762_0_76"/>
          <p:cNvSpPr txBox="1"/>
          <p:nvPr/>
        </p:nvSpPr>
        <p:spPr>
          <a:xfrm>
            <a:off x="2063575" y="2808990"/>
            <a:ext cx="1142100" cy="106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b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1E2E6"/>
              </a:buClr>
              <a:buSzPts val="6400"/>
              <a:buFont typeface="Montserrat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g24463cab762_0_76"/>
          <p:cNvSpPr txBox="1"/>
          <p:nvPr/>
        </p:nvSpPr>
        <p:spPr>
          <a:xfrm>
            <a:off x="719999" y="590400"/>
            <a:ext cx="7365600" cy="44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 b="1" dirty="0">
                <a:solidFill>
                  <a:schemeClr val="dk1"/>
                </a:solidFill>
              </a:rPr>
              <a:t>1. </a:t>
            </a:r>
            <a:r>
              <a:rPr lang="ru-RU" sz="1200" b="1" dirty="0">
                <a:solidFill>
                  <a:schemeClr val="dk1"/>
                </a:solidFill>
              </a:rPr>
              <a:t>Тестирование пользовательского интерфейса </a:t>
            </a:r>
            <a:r>
              <a:rPr lang="en-US" sz="1200" b="1" dirty="0">
                <a:solidFill>
                  <a:schemeClr val="dk1"/>
                </a:solidFill>
              </a:rPr>
              <a:t>(UI)</a:t>
            </a:r>
            <a:endParaRPr sz="1200" b="1" dirty="0">
              <a:solidFill>
                <a:schemeClr val="dk1"/>
              </a:solidFill>
            </a:endParaRPr>
          </a:p>
          <a:p>
            <a:pPr marL="180000" lvl="0" indent="-14400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</a:pPr>
            <a:r>
              <a:rPr lang="ru-RU" sz="1200" b="1" dirty="0">
                <a:solidFill>
                  <a:schemeClr val="dk1"/>
                </a:solidFill>
              </a:rPr>
              <a:t>Поиск товаров</a:t>
            </a:r>
            <a:r>
              <a:rPr lang="en-US" sz="1200" b="1" dirty="0">
                <a:solidFill>
                  <a:schemeClr val="dk1"/>
                </a:solidFill>
              </a:rPr>
              <a:t>:</a:t>
            </a:r>
            <a:r>
              <a:rPr lang="ru-RU" sz="1200" b="1" dirty="0">
                <a:solidFill>
                  <a:schemeClr val="dk1"/>
                </a:solidFill>
              </a:rPr>
              <a:t> </a:t>
            </a:r>
            <a:r>
              <a:rPr lang="ru-RU" sz="1200" dirty="0">
                <a:solidFill>
                  <a:schemeClr val="dk1"/>
                </a:solidFill>
              </a:rPr>
              <a:t>ввод товара в поисковую строку</a:t>
            </a:r>
            <a:r>
              <a:rPr lang="en-US" sz="1200" dirty="0">
                <a:solidFill>
                  <a:schemeClr val="dk1"/>
                </a:solidFill>
              </a:rPr>
              <a:t>,</a:t>
            </a:r>
            <a:r>
              <a:rPr lang="ru-RU" sz="1200" dirty="0">
                <a:solidFill>
                  <a:schemeClr val="dk1"/>
                </a:solidFill>
              </a:rPr>
              <a:t> переход на страницу результатов</a:t>
            </a:r>
            <a:r>
              <a:rPr lang="en-US" sz="1200" dirty="0">
                <a:solidFill>
                  <a:schemeClr val="dk1"/>
                </a:solidFill>
              </a:rPr>
              <a:t>,</a:t>
            </a:r>
            <a:r>
              <a:rPr lang="ru-RU" sz="1200" dirty="0">
                <a:solidFill>
                  <a:schemeClr val="dk1"/>
                </a:solidFill>
              </a:rPr>
              <a:t> наличие товаров</a:t>
            </a:r>
            <a:r>
              <a:rPr lang="en-US" sz="1200" dirty="0">
                <a:solidFill>
                  <a:schemeClr val="dk1"/>
                </a:solidFill>
              </a:rPr>
              <a:t>.</a:t>
            </a:r>
            <a:r>
              <a:rPr lang="ru-RU" sz="1200" dirty="0">
                <a:solidFill>
                  <a:schemeClr val="dk1"/>
                </a:solidFill>
              </a:rPr>
              <a:t> </a:t>
            </a:r>
            <a:endParaRPr lang="en-US" sz="1200" dirty="0">
              <a:solidFill>
                <a:schemeClr val="dk1"/>
              </a:solidFill>
            </a:endParaRPr>
          </a:p>
          <a:p>
            <a:pPr marL="180000" lvl="0" indent="-14400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</a:pPr>
            <a:r>
              <a:rPr lang="ru-RU" sz="1200" b="1" dirty="0">
                <a:solidFill>
                  <a:schemeClr val="dk1"/>
                </a:solidFill>
              </a:rPr>
              <a:t>Фильтры</a:t>
            </a:r>
            <a:r>
              <a:rPr lang="en-US" sz="1200" b="1" dirty="0">
                <a:solidFill>
                  <a:schemeClr val="dk1"/>
                </a:solidFill>
              </a:rPr>
              <a:t>: </a:t>
            </a:r>
            <a:r>
              <a:rPr lang="ru-RU" sz="1200" dirty="0">
                <a:solidFill>
                  <a:schemeClr val="dk1"/>
                </a:solidFill>
              </a:rPr>
              <a:t>открытие панели фильтров</a:t>
            </a:r>
            <a:r>
              <a:rPr lang="en-US" sz="1200" dirty="0">
                <a:solidFill>
                  <a:schemeClr val="dk1"/>
                </a:solidFill>
              </a:rPr>
              <a:t>,</a:t>
            </a:r>
            <a:r>
              <a:rPr lang="ru-RU" sz="1200" dirty="0">
                <a:solidFill>
                  <a:schemeClr val="dk1"/>
                </a:solidFill>
              </a:rPr>
              <a:t> отображение доступных фильтров</a:t>
            </a:r>
            <a:r>
              <a:rPr lang="en-US" sz="1200" dirty="0">
                <a:solidFill>
                  <a:schemeClr val="dk1"/>
                </a:solidFill>
              </a:rPr>
              <a:t>.</a:t>
            </a:r>
          </a:p>
          <a:p>
            <a:pPr marL="180000" lvl="0" indent="-14400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</a:pPr>
            <a:r>
              <a:rPr lang="ru-RU" sz="1200" b="1" dirty="0">
                <a:solidFill>
                  <a:schemeClr val="dk1"/>
                </a:solidFill>
              </a:rPr>
              <a:t>Автодополнение</a:t>
            </a:r>
            <a:r>
              <a:rPr lang="en-US" sz="1200" b="1" dirty="0">
                <a:solidFill>
                  <a:schemeClr val="dk1"/>
                </a:solidFill>
              </a:rPr>
              <a:t>: </a:t>
            </a:r>
            <a:r>
              <a:rPr lang="ru-RU" sz="1200" dirty="0">
                <a:solidFill>
                  <a:schemeClr val="dk1"/>
                </a:solidFill>
              </a:rPr>
              <a:t>ввод части названия</a:t>
            </a:r>
            <a:r>
              <a:rPr lang="en-US" sz="1200" dirty="0">
                <a:solidFill>
                  <a:schemeClr val="dk1"/>
                </a:solidFill>
              </a:rPr>
              <a:t>,</a:t>
            </a:r>
            <a:r>
              <a:rPr lang="ru-RU" sz="1200" dirty="0">
                <a:solidFill>
                  <a:schemeClr val="dk1"/>
                </a:solidFill>
              </a:rPr>
              <a:t> появление подсказов</a:t>
            </a:r>
            <a:r>
              <a:rPr lang="en-US" sz="1200" dirty="0">
                <a:solidFill>
                  <a:schemeClr val="dk1"/>
                </a:solidFill>
              </a:rPr>
              <a:t>.</a:t>
            </a:r>
            <a:endParaRPr lang="en-US" sz="1200" b="1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1200" b="1" dirty="0">
                <a:solidFill>
                  <a:schemeClr val="dk1"/>
                </a:solidFill>
              </a:rPr>
              <a:t>2. Каталог</a:t>
            </a:r>
            <a:r>
              <a:rPr lang="en-US" sz="1200" b="1" dirty="0">
                <a:solidFill>
                  <a:schemeClr val="dk1"/>
                </a:solidFill>
              </a:rPr>
              <a:t>:</a:t>
            </a:r>
            <a:endParaRPr lang="ru-RU" sz="1200" b="1" dirty="0">
              <a:solidFill>
                <a:schemeClr val="dk1"/>
              </a:solidFill>
            </a:endParaRPr>
          </a:p>
          <a:p>
            <a:pPr marL="180000" lvl="0" indent="-14400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</a:pPr>
            <a:r>
              <a:rPr lang="ru-RU" sz="1200" b="1" dirty="0">
                <a:solidFill>
                  <a:schemeClr val="dk1"/>
                </a:solidFill>
              </a:rPr>
              <a:t>Открытие каталога</a:t>
            </a:r>
            <a:r>
              <a:rPr lang="en-US" sz="1200" b="1" dirty="0">
                <a:solidFill>
                  <a:schemeClr val="dk1"/>
                </a:solidFill>
              </a:rPr>
              <a:t>: </a:t>
            </a:r>
            <a:r>
              <a:rPr lang="ru-RU" sz="1200" dirty="0">
                <a:solidFill>
                  <a:schemeClr val="dk1"/>
                </a:solidFill>
              </a:rPr>
              <a:t>нажатие на кнопку </a:t>
            </a:r>
            <a:r>
              <a:rPr lang="en-US" sz="1200" dirty="0">
                <a:solidFill>
                  <a:schemeClr val="dk1"/>
                </a:solidFill>
              </a:rPr>
              <a:t>“</a:t>
            </a:r>
            <a:r>
              <a:rPr lang="ru-RU" sz="1200" dirty="0">
                <a:solidFill>
                  <a:schemeClr val="dk1"/>
                </a:solidFill>
              </a:rPr>
              <a:t>Каталог</a:t>
            </a:r>
            <a:r>
              <a:rPr lang="en-US" sz="1200" dirty="0">
                <a:solidFill>
                  <a:schemeClr val="dk1"/>
                </a:solidFill>
              </a:rPr>
              <a:t>”, </a:t>
            </a:r>
            <a:r>
              <a:rPr lang="ru-RU" sz="1200" dirty="0">
                <a:solidFill>
                  <a:schemeClr val="dk1"/>
                </a:solidFill>
              </a:rPr>
              <a:t>отображение категорий и подкатегорий</a:t>
            </a:r>
            <a:r>
              <a:rPr lang="en-US" sz="1200" dirty="0">
                <a:solidFill>
                  <a:schemeClr val="dk1"/>
                </a:solidFill>
              </a:rPr>
              <a:t>.</a:t>
            </a:r>
            <a:endParaRPr sz="1200" dirty="0">
              <a:solidFill>
                <a:schemeClr val="dk1"/>
              </a:solidFill>
            </a:endParaRPr>
          </a:p>
          <a:p>
            <a:pPr marL="180000" lvl="0" indent="-14400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</a:pPr>
            <a:r>
              <a:rPr lang="ru-RU" sz="1200" b="1" dirty="0">
                <a:solidFill>
                  <a:schemeClr val="dk1"/>
                </a:solidFill>
              </a:rPr>
              <a:t>Навигация по категориям:</a:t>
            </a:r>
            <a:r>
              <a:rPr lang="en-US" sz="1200" b="1" dirty="0">
                <a:solidFill>
                  <a:schemeClr val="dk1"/>
                </a:solidFill>
              </a:rPr>
              <a:t> </a:t>
            </a:r>
            <a:r>
              <a:rPr lang="ru-RU" sz="1200" dirty="0">
                <a:solidFill>
                  <a:schemeClr val="dk1"/>
                </a:solidFill>
              </a:rPr>
              <a:t>клик по категория</a:t>
            </a:r>
            <a:r>
              <a:rPr lang="en-US" sz="1200" dirty="0">
                <a:solidFill>
                  <a:schemeClr val="dk1"/>
                </a:solidFill>
              </a:rPr>
              <a:t>,</a:t>
            </a:r>
            <a:r>
              <a:rPr lang="ru-RU" sz="1200" dirty="0">
                <a:solidFill>
                  <a:schemeClr val="dk1"/>
                </a:solidFill>
              </a:rPr>
              <a:t> отображение подкатегорий</a:t>
            </a:r>
            <a:r>
              <a:rPr lang="en-US" sz="1200" dirty="0">
                <a:solidFill>
                  <a:schemeClr val="dk1"/>
                </a:solidFill>
              </a:rPr>
              <a:t>.</a:t>
            </a:r>
          </a:p>
          <a:p>
            <a:pPr>
              <a:spcBef>
                <a:spcPts val="1200"/>
              </a:spcBef>
              <a:buClr>
                <a:schemeClr val="dk1"/>
              </a:buClr>
              <a:buSzPts val="900"/>
            </a:pPr>
            <a:r>
              <a:rPr lang="en-US" sz="1200" b="1" dirty="0">
                <a:solidFill>
                  <a:schemeClr val="dk1"/>
                </a:solidFill>
              </a:rPr>
              <a:t>3</a:t>
            </a:r>
            <a:r>
              <a:rPr lang="ru-RU" sz="1200" b="1" dirty="0">
                <a:solidFill>
                  <a:schemeClr val="dk1"/>
                </a:solidFill>
              </a:rPr>
              <a:t>. Карточка товара</a:t>
            </a:r>
            <a:r>
              <a:rPr lang="en-US" sz="1200" b="1" dirty="0">
                <a:solidFill>
                  <a:schemeClr val="dk1"/>
                </a:solidFill>
              </a:rPr>
              <a:t>:</a:t>
            </a:r>
            <a:endParaRPr lang="ru-RU" sz="1200" b="1" dirty="0">
              <a:solidFill>
                <a:schemeClr val="dk1"/>
              </a:solidFill>
            </a:endParaRPr>
          </a:p>
          <a:p>
            <a:pPr marL="180000" indent="-144000">
              <a:spcBef>
                <a:spcPts val="1200"/>
              </a:spcBef>
              <a:buClr>
                <a:schemeClr val="dk1"/>
              </a:buClr>
              <a:buSzPts val="900"/>
              <a:buFont typeface="Arial" panose="020B0604020202020204" pitchFamily="34" charset="0"/>
              <a:buChar char="●"/>
            </a:pPr>
            <a:r>
              <a:rPr lang="ru-RU" sz="1200" b="1" dirty="0">
                <a:solidFill>
                  <a:schemeClr val="dk1"/>
                </a:solidFill>
              </a:rPr>
              <a:t>Информация о товаре</a:t>
            </a:r>
            <a:r>
              <a:rPr lang="en-US" sz="1200" b="1" dirty="0">
                <a:solidFill>
                  <a:schemeClr val="dk1"/>
                </a:solidFill>
              </a:rPr>
              <a:t>: </a:t>
            </a:r>
            <a:r>
              <a:rPr lang="ru-RU" sz="1200" dirty="0">
                <a:solidFill>
                  <a:schemeClr val="dk1"/>
                </a:solidFill>
              </a:rPr>
              <a:t>название</a:t>
            </a:r>
            <a:r>
              <a:rPr lang="en-US" sz="1200" dirty="0">
                <a:solidFill>
                  <a:schemeClr val="dk1"/>
                </a:solidFill>
              </a:rPr>
              <a:t>,</a:t>
            </a:r>
            <a:r>
              <a:rPr lang="ru-RU" sz="1200" dirty="0">
                <a:solidFill>
                  <a:schemeClr val="dk1"/>
                </a:solidFill>
              </a:rPr>
              <a:t> цена</a:t>
            </a:r>
            <a:r>
              <a:rPr lang="en-US" sz="1200" dirty="0">
                <a:solidFill>
                  <a:schemeClr val="dk1"/>
                </a:solidFill>
              </a:rPr>
              <a:t>,</a:t>
            </a:r>
            <a:r>
              <a:rPr lang="ru-RU" sz="1200" dirty="0">
                <a:solidFill>
                  <a:schemeClr val="dk1"/>
                </a:solidFill>
              </a:rPr>
              <a:t> описание</a:t>
            </a:r>
            <a:r>
              <a:rPr lang="en-US" sz="1200" dirty="0">
                <a:solidFill>
                  <a:schemeClr val="dk1"/>
                </a:solidFill>
              </a:rPr>
              <a:t>, </a:t>
            </a:r>
            <a:r>
              <a:rPr lang="ru-RU" sz="1200" dirty="0">
                <a:solidFill>
                  <a:schemeClr val="dk1"/>
                </a:solidFill>
              </a:rPr>
              <a:t>характеристики</a:t>
            </a:r>
            <a:r>
              <a:rPr lang="en-US" sz="1200" dirty="0">
                <a:solidFill>
                  <a:schemeClr val="dk1"/>
                </a:solidFill>
              </a:rPr>
              <a:t>,</a:t>
            </a:r>
            <a:r>
              <a:rPr lang="ru-RU" sz="1200" dirty="0">
                <a:solidFill>
                  <a:schemeClr val="dk1"/>
                </a:solidFill>
              </a:rPr>
              <a:t> изображения</a:t>
            </a:r>
            <a:r>
              <a:rPr lang="en-US" sz="1200" dirty="0">
                <a:solidFill>
                  <a:schemeClr val="dk1"/>
                </a:solidFill>
              </a:rPr>
              <a:t>,</a:t>
            </a:r>
            <a:r>
              <a:rPr lang="ru-RU" sz="1200" dirty="0">
                <a:solidFill>
                  <a:schemeClr val="dk1"/>
                </a:solidFill>
              </a:rPr>
              <a:t> рейтинг</a:t>
            </a:r>
            <a:r>
              <a:rPr lang="en-US" sz="1200" dirty="0">
                <a:solidFill>
                  <a:schemeClr val="dk1"/>
                </a:solidFill>
              </a:rPr>
              <a:t>,</a:t>
            </a:r>
            <a:r>
              <a:rPr lang="ru-RU" sz="1200" dirty="0">
                <a:solidFill>
                  <a:schemeClr val="dk1"/>
                </a:solidFill>
              </a:rPr>
              <a:t> отзывы</a:t>
            </a:r>
            <a:r>
              <a:rPr lang="en-US" sz="1200" dirty="0">
                <a:solidFill>
                  <a:schemeClr val="dk1"/>
                </a:solidFill>
              </a:rPr>
              <a:t>, </a:t>
            </a:r>
            <a:r>
              <a:rPr lang="ru-RU" sz="1200" dirty="0">
                <a:solidFill>
                  <a:schemeClr val="dk1"/>
                </a:solidFill>
              </a:rPr>
              <a:t>продавец</a:t>
            </a:r>
            <a:r>
              <a:rPr lang="en-US" sz="1200" dirty="0">
                <a:solidFill>
                  <a:schemeClr val="dk1"/>
                </a:solidFill>
              </a:rPr>
              <a:t>,</a:t>
            </a:r>
            <a:r>
              <a:rPr lang="ru-RU" sz="1200" dirty="0">
                <a:solidFill>
                  <a:schemeClr val="dk1"/>
                </a:solidFill>
              </a:rPr>
              <a:t> доставка</a:t>
            </a:r>
            <a:r>
              <a:rPr lang="en-US" sz="1200" dirty="0">
                <a:solidFill>
                  <a:schemeClr val="dk1"/>
                </a:solidFill>
              </a:rPr>
              <a:t>.</a:t>
            </a:r>
          </a:p>
          <a:p>
            <a:pPr marL="180000" indent="-144000">
              <a:spcBef>
                <a:spcPts val="1200"/>
              </a:spcBef>
              <a:buClr>
                <a:schemeClr val="dk1"/>
              </a:buClr>
              <a:buSzPts val="900"/>
              <a:buFont typeface="Arial" panose="020B0604020202020204" pitchFamily="34" charset="0"/>
              <a:buChar char="●"/>
            </a:pPr>
            <a:r>
              <a:rPr lang="ru-RU" sz="1200" b="1" dirty="0">
                <a:solidFill>
                  <a:schemeClr val="dk1"/>
                </a:solidFill>
              </a:rPr>
              <a:t>Добавление в корзину</a:t>
            </a:r>
            <a:r>
              <a:rPr lang="en-US" sz="1200" b="1" dirty="0">
                <a:solidFill>
                  <a:schemeClr val="dk1"/>
                </a:solidFill>
              </a:rPr>
              <a:t>: </a:t>
            </a:r>
            <a:r>
              <a:rPr lang="ru-RU" sz="1200" dirty="0">
                <a:solidFill>
                  <a:schemeClr val="dk1"/>
                </a:solidFill>
              </a:rPr>
              <a:t>нажатие на кнопку </a:t>
            </a:r>
            <a:r>
              <a:rPr lang="en-US" sz="1200" dirty="0">
                <a:solidFill>
                  <a:schemeClr val="dk1"/>
                </a:solidFill>
              </a:rPr>
              <a:t>“</a:t>
            </a:r>
            <a:r>
              <a:rPr lang="ru-RU" sz="1200" dirty="0">
                <a:solidFill>
                  <a:schemeClr val="dk1"/>
                </a:solidFill>
              </a:rPr>
              <a:t>Добавить в корзину</a:t>
            </a:r>
            <a:r>
              <a:rPr lang="en-US" sz="1200" dirty="0">
                <a:solidFill>
                  <a:schemeClr val="dk1"/>
                </a:solidFill>
              </a:rPr>
              <a:t>”, </a:t>
            </a:r>
            <a:r>
              <a:rPr lang="ru-RU" sz="1200" dirty="0">
                <a:solidFill>
                  <a:schemeClr val="dk1"/>
                </a:solidFill>
              </a:rPr>
              <a:t>обновление корзины</a:t>
            </a:r>
            <a:r>
              <a:rPr lang="en-US" sz="1200" dirty="0">
                <a:solidFill>
                  <a:schemeClr val="dk1"/>
                </a:solidFill>
              </a:rPr>
              <a:t>.</a:t>
            </a:r>
          </a:p>
          <a:p>
            <a:pPr marL="180000" indent="-144000">
              <a:spcBef>
                <a:spcPts val="1200"/>
              </a:spcBef>
              <a:buClr>
                <a:schemeClr val="dk1"/>
              </a:buClr>
              <a:buSzPts val="900"/>
              <a:buFont typeface="Arial" panose="020B0604020202020204" pitchFamily="34" charset="0"/>
              <a:buChar char="●"/>
            </a:pPr>
            <a:r>
              <a:rPr lang="ru-RU" sz="1200" b="1" dirty="0">
                <a:solidFill>
                  <a:schemeClr val="dk1"/>
                </a:solidFill>
              </a:rPr>
              <a:t>Избранное</a:t>
            </a:r>
            <a:r>
              <a:rPr lang="en-US" sz="1200" b="1" dirty="0">
                <a:solidFill>
                  <a:schemeClr val="dk1"/>
                </a:solidFill>
              </a:rPr>
              <a:t>: </a:t>
            </a:r>
            <a:r>
              <a:rPr lang="ru-RU" sz="1200" dirty="0">
                <a:solidFill>
                  <a:schemeClr val="dk1"/>
                </a:solidFill>
              </a:rPr>
              <a:t>отображение кнопки</a:t>
            </a:r>
            <a:r>
              <a:rPr lang="en-US" sz="1200" dirty="0">
                <a:solidFill>
                  <a:schemeClr val="dk1"/>
                </a:solidFill>
              </a:rPr>
              <a:t> “</a:t>
            </a:r>
            <a:r>
              <a:rPr lang="ru-RU" sz="1200" dirty="0">
                <a:solidFill>
                  <a:schemeClr val="dk1"/>
                </a:solidFill>
              </a:rPr>
              <a:t>Добавить в избранное</a:t>
            </a:r>
            <a:r>
              <a:rPr lang="en-US" sz="1200" dirty="0">
                <a:solidFill>
                  <a:schemeClr val="dk1"/>
                </a:solidFill>
              </a:rPr>
              <a:t>”.</a:t>
            </a:r>
            <a:endParaRPr lang="ru-RU" sz="1200" b="1" dirty="0">
              <a:solidFill>
                <a:schemeClr val="dk1"/>
              </a:solidFill>
            </a:endParaRPr>
          </a:p>
          <a:p>
            <a:pPr marL="171450" lvl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900"/>
            </a:pPr>
            <a:endParaRPr lang="ru-RU" sz="1200" b="1" dirty="0">
              <a:solidFill>
                <a:schemeClr val="dk1"/>
              </a:solidFill>
            </a:endParaRPr>
          </a:p>
        </p:txBody>
      </p:sp>
      <p:pic>
        <p:nvPicPr>
          <p:cNvPr id="93" name="Google Shape;93;g24463cab762_0_76" descr="Рисунок 4"/>
          <p:cNvPicPr preferRelativeResize="0"/>
          <p:nvPr/>
        </p:nvPicPr>
        <p:blipFill rotWithShape="1">
          <a:blip r:embed="rId4">
            <a:alphaModFix/>
          </a:blip>
          <a:srcRect l="87441"/>
          <a:stretch/>
        </p:blipFill>
        <p:spPr>
          <a:xfrm>
            <a:off x="8087552" y="0"/>
            <a:ext cx="1056451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g2d9b3813896_1_42" descr="Рисунок 43"/>
          <p:cNvPicPr preferRelativeResize="0"/>
          <p:nvPr/>
        </p:nvPicPr>
        <p:blipFill rotWithShape="1">
          <a:blip r:embed="rId3">
            <a:alphaModFix/>
          </a:blip>
          <a:srcRect b="33409"/>
          <a:stretch/>
        </p:blipFill>
        <p:spPr>
          <a:xfrm>
            <a:off x="530226" y="1718391"/>
            <a:ext cx="2571751" cy="3425110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g2d9b3813896_1_42"/>
          <p:cNvSpPr/>
          <p:nvPr/>
        </p:nvSpPr>
        <p:spPr>
          <a:xfrm>
            <a:off x="720000" y="0"/>
            <a:ext cx="7735200" cy="5143500"/>
          </a:xfrm>
          <a:prstGeom prst="rect">
            <a:avLst/>
          </a:prstGeom>
          <a:solidFill>
            <a:srgbClr val="F7F7F8"/>
          </a:soli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endParaRPr lang="ru-BY" sz="1200" b="0" i="0" u="none" strike="noStrike" cap="none" dirty="0">
              <a:solidFill>
                <a:schemeClr val="tx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</p:txBody>
      </p:sp>
      <p:sp>
        <p:nvSpPr>
          <p:cNvPr id="100" name="Google Shape;100;g2d9b3813896_1_42"/>
          <p:cNvSpPr txBox="1">
            <a:spLocks noGrp="1"/>
          </p:cNvSpPr>
          <p:nvPr>
            <p:ph type="sldNum" idx="4294967295"/>
          </p:nvPr>
        </p:nvSpPr>
        <p:spPr>
          <a:xfrm>
            <a:off x="271708" y="384810"/>
            <a:ext cx="174900" cy="24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b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Montserrat"/>
              <a:buNone/>
            </a:pPr>
            <a:fld id="{00000000-1234-1234-1234-123412341234}" type="slidenum">
              <a:rPr lang="en-US" sz="10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4</a:t>
            </a:fld>
            <a:endParaRPr/>
          </a:p>
        </p:txBody>
      </p:sp>
      <p:sp>
        <p:nvSpPr>
          <p:cNvPr id="101" name="Google Shape;101;g2d9b3813896_1_42"/>
          <p:cNvSpPr txBox="1">
            <a:spLocks noGrp="1"/>
          </p:cNvSpPr>
          <p:nvPr>
            <p:ph type="title"/>
          </p:nvPr>
        </p:nvSpPr>
        <p:spPr>
          <a:xfrm>
            <a:off x="720000" y="133200"/>
            <a:ext cx="7364574" cy="5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b" anchorCtr="0">
            <a:noAutofit/>
          </a:bodyPr>
          <a:lstStyle/>
          <a:p>
            <a:pPr marL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6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Технологии</a:t>
            </a:r>
            <a:endParaRPr sz="2400" b="1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5B7994F-C3C1-F7B4-E930-1097C46FF5A1}"/>
              </a:ext>
            </a:extLst>
          </p:cNvPr>
          <p:cNvSpPr txBox="1"/>
          <p:nvPr/>
        </p:nvSpPr>
        <p:spPr>
          <a:xfrm>
            <a:off x="1791818" y="777570"/>
            <a:ext cx="536452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200" b="1" u="none" strike="noStrike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Python</a:t>
            </a:r>
            <a:r>
              <a:rPr lang="ru-RU" sz="1200" dirty="0">
                <a:latin typeface="Arial" panose="020B0604020202020204" pitchFamily="34" charset="0"/>
                <a:cs typeface="Arial" panose="020B0604020202020204" pitchFamily="34" charset="0"/>
              </a:rPr>
              <a:t> - язык программирования для создания скриптов автоматизации</a:t>
            </a:r>
            <a:endParaRPr lang="ru-BY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9F2CB1E-9055-76D6-A458-D661E38DE167}"/>
              </a:ext>
            </a:extLst>
          </p:cNvPr>
          <p:cNvSpPr txBox="1"/>
          <p:nvPr/>
        </p:nvSpPr>
        <p:spPr>
          <a:xfrm>
            <a:off x="1791818" y="1344939"/>
            <a:ext cx="473258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200" b="1" u="none" strike="noStrike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Pytest</a:t>
            </a:r>
            <a:r>
              <a:rPr lang="ru-RU" sz="1200" dirty="0">
                <a:latin typeface="Arial" panose="020B0604020202020204" pitchFamily="34" charset="0"/>
                <a:cs typeface="Arial" panose="020B0604020202020204" pitchFamily="34" charset="0"/>
              </a:rPr>
              <a:t> - фреймворк для управления тестами и параметризации</a:t>
            </a:r>
            <a:endParaRPr lang="ru-BY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3C57C2F-28DC-284C-AC3D-32C0EB1A0487}"/>
              </a:ext>
            </a:extLst>
          </p:cNvPr>
          <p:cNvSpPr txBox="1"/>
          <p:nvPr/>
        </p:nvSpPr>
        <p:spPr>
          <a:xfrm>
            <a:off x="1791818" y="1967830"/>
            <a:ext cx="356444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200" b="1" u="none" strike="noStrike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Playwright</a:t>
            </a:r>
            <a:r>
              <a:rPr lang="ru-RU" sz="1200" dirty="0">
                <a:latin typeface="Arial" panose="020B0604020202020204" pitchFamily="34" charset="0"/>
                <a:cs typeface="Arial" panose="020B0604020202020204" pitchFamily="34" charset="0"/>
              </a:rPr>
              <a:t> - автоматизация браузерных тестов</a:t>
            </a:r>
            <a:endParaRPr lang="ru-BY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9D0F543-952D-B580-FE93-94689979AC7C}"/>
              </a:ext>
            </a:extLst>
          </p:cNvPr>
          <p:cNvSpPr txBox="1"/>
          <p:nvPr/>
        </p:nvSpPr>
        <p:spPr>
          <a:xfrm>
            <a:off x="1802854" y="2522669"/>
            <a:ext cx="555342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200" b="1" u="none" strike="noStrike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Allure Report</a:t>
            </a:r>
            <a:r>
              <a:rPr lang="ru-RU" sz="1200" dirty="0">
                <a:latin typeface="Arial" panose="020B0604020202020204" pitchFamily="34" charset="0"/>
                <a:cs typeface="Arial" panose="020B0604020202020204" pitchFamily="34" charset="0"/>
              </a:rPr>
              <a:t> - инструмент для генерации красивых графических отчетов</a:t>
            </a:r>
            <a:endParaRPr lang="ru-BY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4EE8DD3-97EF-281C-12A8-64CE7CA1F651}"/>
              </a:ext>
            </a:extLst>
          </p:cNvPr>
          <p:cNvSpPr txBox="1"/>
          <p:nvPr/>
        </p:nvSpPr>
        <p:spPr>
          <a:xfrm>
            <a:off x="1795875" y="3171946"/>
            <a:ext cx="567397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200" b="1" u="none" strike="noStrike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Git/GitHub</a:t>
            </a:r>
            <a:r>
              <a:rPr lang="ru-RU" sz="1200" dirty="0">
                <a:latin typeface="Arial" panose="020B0604020202020204" pitchFamily="34" charset="0"/>
                <a:cs typeface="Arial" panose="020B0604020202020204" pitchFamily="34" charset="0"/>
              </a:rPr>
              <a:t> - система контроля версий и платформа для совместной работы</a:t>
            </a:r>
            <a:endParaRPr lang="ru-BY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0548C84-D42A-0BFD-996B-30BAEF5E6406}"/>
              </a:ext>
            </a:extLst>
          </p:cNvPr>
          <p:cNvSpPr txBox="1"/>
          <p:nvPr/>
        </p:nvSpPr>
        <p:spPr>
          <a:xfrm>
            <a:off x="1798066" y="3821223"/>
            <a:ext cx="300910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u="none" strike="noStrike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Docker </a:t>
            </a:r>
            <a:r>
              <a:rPr lang="ru-RU" sz="1200" dirty="0"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1200" dirty="0">
                <a:latin typeface="Arial" panose="020B0604020202020204" pitchFamily="34" charset="0"/>
                <a:cs typeface="Arial" panose="020B0604020202020204" pitchFamily="34" charset="0"/>
              </a:rPr>
              <a:t>контейнеризация фреймворка</a:t>
            </a:r>
            <a:endParaRPr lang="ru-BY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" name="Рисунок 9" descr="Изображение выглядит как графическая вставка, символ, Графика, мультфильм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A82573D9-F12E-4783-8AA2-3CD54AEDC21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3303" y="700087"/>
            <a:ext cx="431966" cy="431966"/>
          </a:xfrm>
          <a:prstGeom prst="rect">
            <a:avLst/>
          </a:prstGeom>
        </p:spPr>
      </p:pic>
      <p:pic>
        <p:nvPicPr>
          <p:cNvPr id="12" name="Рисунок 11" descr="Изображение выглядит как снимок экрана, текст, Графика, дизайн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E16853A0-36DE-04BA-5AE6-79A01B30D9B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8196" y="1191340"/>
            <a:ext cx="592168" cy="592168"/>
          </a:xfrm>
          <a:prstGeom prst="rect">
            <a:avLst/>
          </a:prstGeom>
        </p:spPr>
      </p:pic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0A6035BC-1060-155D-47A9-01D91646CFB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33744" y="1818948"/>
            <a:ext cx="566620" cy="566620"/>
          </a:xfrm>
          <a:prstGeom prst="rect">
            <a:avLst/>
          </a:prstGeom>
        </p:spPr>
      </p:pic>
      <p:pic>
        <p:nvPicPr>
          <p:cNvPr id="16" name="Рисунок 15" descr="Изображение выглядит как Графика, символ, круг, Шрифт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8F971FBA-3250-1A09-0C3C-5D973E2394A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42924" y="4281134"/>
            <a:ext cx="739060" cy="739060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27057672-8970-B6FD-C516-28D72E6CC6AD}"/>
              </a:ext>
            </a:extLst>
          </p:cNvPr>
          <p:cNvSpPr txBox="1"/>
          <p:nvPr/>
        </p:nvSpPr>
        <p:spPr>
          <a:xfrm>
            <a:off x="1795875" y="4512165"/>
            <a:ext cx="551086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u="none" strike="noStrike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GitHub Actions </a:t>
            </a:r>
            <a:r>
              <a:rPr lang="ru-RU" sz="1200" u="none" strike="noStrike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– автоматический запуск </a:t>
            </a:r>
            <a:r>
              <a:rPr lang="en-US" sz="1200" u="none" strike="noStrike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CI/CD </a:t>
            </a:r>
            <a:r>
              <a:rPr lang="ru-RU" sz="1200" u="none" strike="noStrike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пайпланов</a:t>
            </a:r>
            <a:endParaRPr lang="ru-BY" sz="1200" dirty="0"/>
          </a:p>
        </p:txBody>
      </p:sp>
      <p:pic>
        <p:nvPicPr>
          <p:cNvPr id="19" name="Рисунок 18" descr="Изображение выглядит как Графика, Красочность, круг, графический дизайн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7129B909-6567-74F2-D776-CF30CB97A4D2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94593" y="2349623"/>
            <a:ext cx="619374" cy="619374"/>
          </a:xfrm>
          <a:prstGeom prst="rect">
            <a:avLst/>
          </a:prstGeom>
        </p:spPr>
      </p:pic>
      <p:pic>
        <p:nvPicPr>
          <p:cNvPr id="21" name="Рисунок 20" descr="Изображение выглядит как кот, млекопитающее, силуэт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486991BD-E3E6-A362-4A18-FFDAA2C65460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 flipH="1">
            <a:off x="1053655" y="3051895"/>
            <a:ext cx="517598" cy="517598"/>
          </a:xfrm>
          <a:prstGeom prst="rect">
            <a:avLst/>
          </a:prstGeom>
        </p:spPr>
      </p:pic>
      <p:pic>
        <p:nvPicPr>
          <p:cNvPr id="23" name="Рисунок 22" descr="Изображение выглядит как логотип, Графика, графическая вставка, символ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D93457D7-30C9-742C-189E-8B65C13053CC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33744" y="3687333"/>
            <a:ext cx="544781" cy="544781"/>
          </a:xfrm>
          <a:prstGeom prst="rect">
            <a:avLst/>
          </a:prstGeom>
        </p:spPr>
      </p:pic>
      <p:pic>
        <p:nvPicPr>
          <p:cNvPr id="105" name="Google Shape;105;g2d9b3813896_1_42" descr="Рисунок 4"/>
          <p:cNvPicPr preferRelativeResize="0"/>
          <p:nvPr/>
        </p:nvPicPr>
        <p:blipFill rotWithShape="1">
          <a:blip r:embed="rId12">
            <a:alphaModFix/>
          </a:blip>
          <a:srcRect l="87441"/>
          <a:stretch/>
        </p:blipFill>
        <p:spPr>
          <a:xfrm>
            <a:off x="8084574" y="0"/>
            <a:ext cx="10584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4" name="Google Shape;85;g24463cab762_0_76">
            <a:extLst>
              <a:ext uri="{FF2B5EF4-FFF2-40B4-BE49-F238E27FC236}">
                <a16:creationId xmlns:a16="http://schemas.microsoft.com/office/drawing/2014/main" id="{45FBC883-BD49-7B58-3FAD-5E696CAE2FF1}"/>
              </a:ext>
            </a:extLst>
          </p:cNvPr>
          <p:cNvGrpSpPr/>
          <p:nvPr/>
        </p:nvGrpSpPr>
        <p:grpSpPr>
          <a:xfrm>
            <a:off x="274005" y="700087"/>
            <a:ext cx="180300" cy="4068812"/>
            <a:chOff x="0" y="0"/>
            <a:chExt cx="180300" cy="4068812"/>
          </a:xfrm>
        </p:grpSpPr>
        <p:sp>
          <p:nvSpPr>
            <p:cNvPr id="25" name="Google Shape;86;g24463cab762_0_76">
              <a:extLst>
                <a:ext uri="{FF2B5EF4-FFF2-40B4-BE49-F238E27FC236}">
                  <a16:creationId xmlns:a16="http://schemas.microsoft.com/office/drawing/2014/main" id="{18F8DD99-0798-E211-23BE-C37A349BCF71}"/>
                </a:ext>
              </a:extLst>
            </p:cNvPr>
            <p:cNvSpPr txBox="1"/>
            <p:nvPr/>
          </p:nvSpPr>
          <p:spPr>
            <a:xfrm rot="-5400000">
              <a:off x="-603900" y="1794218"/>
              <a:ext cx="1388100" cy="180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700" tIns="45700" rIns="45700" bIns="45700" anchor="b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00"/>
                <a:buFont typeface="Montserrat"/>
                <a:buNone/>
              </a:pPr>
              <a:r>
                <a:rPr lang="en-US" sz="600" b="0" i="0" u="none" strike="noStrike" cap="none" dirty="0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teachmeskills.by</a:t>
              </a: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6" name="Google Shape;87;g24463cab762_0_76">
              <a:extLst>
                <a:ext uri="{FF2B5EF4-FFF2-40B4-BE49-F238E27FC236}">
                  <a16:creationId xmlns:a16="http://schemas.microsoft.com/office/drawing/2014/main" id="{0B21B757-919F-3F99-596D-8B9E1D007439}"/>
                </a:ext>
              </a:extLst>
            </p:cNvPr>
            <p:cNvCxnSpPr/>
            <p:nvPr/>
          </p:nvCxnSpPr>
          <p:spPr>
            <a:xfrm>
              <a:off x="93344" y="2436812"/>
              <a:ext cx="0" cy="1632000"/>
            </a:xfrm>
            <a:prstGeom prst="straightConnector1">
              <a:avLst/>
            </a:prstGeom>
            <a:noFill/>
            <a:ln w="9525" cap="flat" cmpd="sng">
              <a:solidFill>
                <a:srgbClr val="E3E4E5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27" name="Google Shape;88;g24463cab762_0_76">
              <a:extLst>
                <a:ext uri="{FF2B5EF4-FFF2-40B4-BE49-F238E27FC236}">
                  <a16:creationId xmlns:a16="http://schemas.microsoft.com/office/drawing/2014/main" id="{ABDB15AA-230E-B1AB-578C-DCB102CEF08B}"/>
                </a:ext>
              </a:extLst>
            </p:cNvPr>
            <p:cNvCxnSpPr/>
            <p:nvPr/>
          </p:nvCxnSpPr>
          <p:spPr>
            <a:xfrm>
              <a:off x="93344" y="0"/>
              <a:ext cx="0" cy="1363800"/>
            </a:xfrm>
            <a:prstGeom prst="straightConnector1">
              <a:avLst/>
            </a:prstGeom>
            <a:noFill/>
            <a:ln w="9525" cap="flat" cmpd="sng">
              <a:solidFill>
                <a:srgbClr val="E3E4E5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5" name="Google Shape;115;g2bd3e5c4b55_0_24" descr="Рисунок 43"/>
          <p:cNvPicPr preferRelativeResize="0"/>
          <p:nvPr/>
        </p:nvPicPr>
        <p:blipFill rotWithShape="1">
          <a:blip r:embed="rId3">
            <a:alphaModFix/>
          </a:blip>
          <a:srcRect b="33409"/>
          <a:stretch/>
        </p:blipFill>
        <p:spPr>
          <a:xfrm>
            <a:off x="530226" y="1718391"/>
            <a:ext cx="2571751" cy="3425110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g2bd3e5c4b55_0_24"/>
          <p:cNvSpPr/>
          <p:nvPr/>
        </p:nvSpPr>
        <p:spPr>
          <a:xfrm>
            <a:off x="720000" y="0"/>
            <a:ext cx="8181900" cy="5143500"/>
          </a:xfrm>
          <a:prstGeom prst="rect">
            <a:avLst/>
          </a:prstGeom>
          <a:solidFill>
            <a:srgbClr val="F7F7F8"/>
          </a:soli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g2bd3e5c4b55_0_24"/>
          <p:cNvSpPr txBox="1">
            <a:spLocks noGrp="1"/>
          </p:cNvSpPr>
          <p:nvPr>
            <p:ph type="sldNum" idx="4294967295"/>
          </p:nvPr>
        </p:nvSpPr>
        <p:spPr>
          <a:xfrm>
            <a:off x="271708" y="384810"/>
            <a:ext cx="174900" cy="24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b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Montserrat"/>
              <a:buNone/>
            </a:pPr>
            <a:fld id="{00000000-1234-1234-1234-123412341234}" type="slidenum">
              <a:rPr lang="en-US" sz="10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5</a:t>
            </a:fld>
            <a:endParaRPr/>
          </a:p>
        </p:txBody>
      </p:sp>
      <p:grpSp>
        <p:nvGrpSpPr>
          <p:cNvPr id="118" name="Google Shape;118;g2bd3e5c4b55_0_24"/>
          <p:cNvGrpSpPr/>
          <p:nvPr/>
        </p:nvGrpSpPr>
        <p:grpSpPr>
          <a:xfrm>
            <a:off x="274005" y="700087"/>
            <a:ext cx="180300" cy="4068812"/>
            <a:chOff x="0" y="0"/>
            <a:chExt cx="180300" cy="4068812"/>
          </a:xfrm>
        </p:grpSpPr>
        <p:sp>
          <p:nvSpPr>
            <p:cNvPr id="119" name="Google Shape;119;g2bd3e5c4b55_0_24"/>
            <p:cNvSpPr txBox="1"/>
            <p:nvPr/>
          </p:nvSpPr>
          <p:spPr>
            <a:xfrm rot="-5400000">
              <a:off x="-603900" y="1794218"/>
              <a:ext cx="1388100" cy="180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700" tIns="45700" rIns="45700" bIns="45700" anchor="b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00"/>
                <a:buFont typeface="Montserrat"/>
                <a:buNone/>
              </a:pPr>
              <a:r>
                <a:rPr lang="en-US" sz="600" b="0" i="0" u="none" strike="noStrike" cap="none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teachmeskills.by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20" name="Google Shape;120;g2bd3e5c4b55_0_24"/>
            <p:cNvCxnSpPr/>
            <p:nvPr/>
          </p:nvCxnSpPr>
          <p:spPr>
            <a:xfrm>
              <a:off x="93344" y="2436812"/>
              <a:ext cx="0" cy="1632000"/>
            </a:xfrm>
            <a:prstGeom prst="straightConnector1">
              <a:avLst/>
            </a:prstGeom>
            <a:noFill/>
            <a:ln w="9525" cap="flat" cmpd="sng">
              <a:solidFill>
                <a:srgbClr val="E3E4E5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121" name="Google Shape;121;g2bd3e5c4b55_0_24"/>
            <p:cNvCxnSpPr/>
            <p:nvPr/>
          </p:nvCxnSpPr>
          <p:spPr>
            <a:xfrm>
              <a:off x="93344" y="0"/>
              <a:ext cx="0" cy="1363800"/>
            </a:xfrm>
            <a:prstGeom prst="straightConnector1">
              <a:avLst/>
            </a:prstGeom>
            <a:noFill/>
            <a:ln w="9525" cap="flat" cmpd="sng">
              <a:solidFill>
                <a:srgbClr val="E3E4E5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sp>
        <p:nvSpPr>
          <p:cNvPr id="122" name="Google Shape;122;g2bd3e5c4b55_0_24"/>
          <p:cNvSpPr txBox="1">
            <a:spLocks noGrp="1"/>
          </p:cNvSpPr>
          <p:nvPr>
            <p:ph type="title"/>
          </p:nvPr>
        </p:nvSpPr>
        <p:spPr>
          <a:xfrm>
            <a:off x="720000" y="133200"/>
            <a:ext cx="7365600" cy="5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b" anchorCtr="0">
            <a:noAutofit/>
          </a:bodyPr>
          <a:lstStyle/>
          <a:p>
            <a:pPr marL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800" b="1" dirty="0">
                <a:latin typeface="Arial"/>
                <a:ea typeface="Arial"/>
                <a:cs typeface="Arial"/>
                <a:sym typeface="Arial"/>
              </a:rPr>
              <a:t>Архитектура фреймворка</a:t>
            </a:r>
            <a:endParaRPr sz="2800" b="1" dirty="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" name="Google Shape;123;g2bd3e5c4b55_0_24"/>
          <p:cNvSpPr txBox="1"/>
          <p:nvPr/>
        </p:nvSpPr>
        <p:spPr>
          <a:xfrm>
            <a:off x="2063575" y="1806365"/>
            <a:ext cx="1142100" cy="106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b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1E2E6"/>
              </a:buClr>
              <a:buSzPts val="6400"/>
              <a:buFont typeface="Montserrat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Google Shape;124;g2bd3e5c4b55_0_24"/>
          <p:cNvSpPr txBox="1"/>
          <p:nvPr/>
        </p:nvSpPr>
        <p:spPr>
          <a:xfrm>
            <a:off x="2063575" y="2808990"/>
            <a:ext cx="1142100" cy="106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b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1E2E6"/>
              </a:buClr>
              <a:buSzPts val="6400"/>
              <a:buFont typeface="Montserrat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6" name="Google Shape;126;g2bd3e5c4b55_0_24" descr="Рисунок 4"/>
          <p:cNvPicPr preferRelativeResize="0"/>
          <p:nvPr/>
        </p:nvPicPr>
        <p:blipFill rotWithShape="1">
          <a:blip r:embed="rId4">
            <a:alphaModFix/>
          </a:blip>
          <a:srcRect l="87441"/>
          <a:stretch/>
        </p:blipFill>
        <p:spPr>
          <a:xfrm>
            <a:off x="8087552" y="0"/>
            <a:ext cx="1056451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00023CA4-E886-294E-DA7C-7039B6F539BE}"/>
              </a:ext>
            </a:extLst>
          </p:cNvPr>
          <p:cNvSpPr txBox="1"/>
          <p:nvPr/>
        </p:nvSpPr>
        <p:spPr>
          <a:xfrm>
            <a:off x="719999" y="590400"/>
            <a:ext cx="7365600" cy="44208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32000" indent="-171450">
              <a:lnSpc>
                <a:spcPct val="200000"/>
              </a:lnSpc>
              <a:buFont typeface="Arial" panose="020B0604020202020204" pitchFamily="34" charset="0"/>
              <a:buChar char="●"/>
            </a:pPr>
            <a:r>
              <a:rPr lang="ru-RU" sz="1200" b="1" dirty="0"/>
              <a:t>Описание структуры проекта</a:t>
            </a:r>
            <a:r>
              <a:rPr lang="en-US" sz="1200" b="1" dirty="0"/>
              <a:t>:</a:t>
            </a:r>
            <a:endParaRPr lang="ru-RU" sz="12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dirty="0"/>
              <a:t>conftest.py </a:t>
            </a:r>
            <a:r>
              <a:rPr lang="en-US" sz="1200" dirty="0"/>
              <a:t>–</a:t>
            </a:r>
            <a:r>
              <a:rPr lang="ru-RU" sz="1200" dirty="0"/>
              <a:t> фикстуры и настройки </a:t>
            </a:r>
            <a:r>
              <a:rPr lang="en-US" sz="1200" dirty="0"/>
              <a:t>pytest.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dirty="0"/>
              <a:t>pytest.ini </a:t>
            </a:r>
            <a:r>
              <a:rPr lang="en-US" sz="1200" dirty="0"/>
              <a:t>– </a:t>
            </a:r>
            <a:r>
              <a:rPr lang="ru-RU" sz="1200" dirty="0"/>
              <a:t>конфигурация тестового фреймворка</a:t>
            </a:r>
            <a:r>
              <a:rPr lang="en-US" sz="1200" dirty="0"/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dirty="0"/>
              <a:t>requirements.txt </a:t>
            </a:r>
            <a:r>
              <a:rPr lang="en-US" sz="1200" dirty="0"/>
              <a:t>– </a:t>
            </a:r>
            <a:r>
              <a:rPr lang="ru-RU" sz="1200" dirty="0"/>
              <a:t>зависимости проекта</a:t>
            </a:r>
            <a:r>
              <a:rPr lang="en-US" sz="1200" dirty="0"/>
              <a:t>.</a:t>
            </a:r>
            <a:endParaRPr lang="ru-RU" sz="12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dirty="0"/>
              <a:t>Dockerfile</a:t>
            </a:r>
            <a:r>
              <a:rPr lang="en-US" sz="1200" dirty="0"/>
              <a:t> – </a:t>
            </a:r>
            <a:r>
              <a:rPr lang="ru-RU" sz="1200" dirty="0"/>
              <a:t>сборка </a:t>
            </a:r>
            <a:r>
              <a:rPr lang="en-US" sz="1200" dirty="0"/>
              <a:t>Docker-</a:t>
            </a:r>
            <a:r>
              <a:rPr lang="ru-RU" sz="1200" dirty="0"/>
              <a:t>образа</a:t>
            </a:r>
            <a:r>
              <a:rPr lang="en-US" sz="1200" dirty="0"/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200" dirty="0"/>
          </a:p>
          <a:p>
            <a:pPr marL="432000" indent="-171450">
              <a:lnSpc>
                <a:spcPct val="200000"/>
              </a:lnSpc>
              <a:buFont typeface="Arial" panose="020B0604020202020204" pitchFamily="34" charset="0"/>
              <a:buChar char="●"/>
            </a:pPr>
            <a:r>
              <a:rPr lang="en-US" sz="1200" b="1" dirty="0"/>
              <a:t>Page Object Model: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dirty="0"/>
              <a:t>pages/ </a:t>
            </a:r>
            <a:r>
              <a:rPr lang="en-US" sz="1200" dirty="0"/>
              <a:t>- Page Object </a:t>
            </a:r>
            <a:r>
              <a:rPr lang="ru-RU" sz="1200" dirty="0"/>
              <a:t>классы для взаимодействия со страницами</a:t>
            </a:r>
            <a:r>
              <a:rPr lang="en-US" sz="1200" dirty="0"/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dirty="0"/>
              <a:t>tests/ </a:t>
            </a:r>
            <a:r>
              <a:rPr lang="en-US" sz="1200" dirty="0"/>
              <a:t>- </a:t>
            </a:r>
            <a:r>
              <a:rPr lang="ru-RU" sz="1200" dirty="0"/>
              <a:t>автотесты</a:t>
            </a:r>
            <a:r>
              <a:rPr lang="en-US" sz="1200" dirty="0"/>
              <a:t>,</a:t>
            </a:r>
            <a:r>
              <a:rPr lang="ru-RU" sz="1200" dirty="0"/>
              <a:t> сгрупированные по функциональности</a:t>
            </a:r>
            <a:r>
              <a:rPr lang="en-US" sz="1200" dirty="0"/>
              <a:t>.</a:t>
            </a:r>
          </a:p>
          <a:p>
            <a:endParaRPr lang="en-US" sz="1200" dirty="0"/>
          </a:p>
          <a:p>
            <a:pPr marL="432000" indent="-171450">
              <a:lnSpc>
                <a:spcPct val="200000"/>
              </a:lnSpc>
              <a:buFont typeface="Arial" panose="020B0604020202020204" pitchFamily="34" charset="0"/>
              <a:buChar char="●"/>
            </a:pPr>
            <a:r>
              <a:rPr lang="ru-RU" sz="1200" b="1" dirty="0"/>
              <a:t>Ключевые страницы</a:t>
            </a:r>
            <a:r>
              <a:rPr lang="en-US" sz="1200" b="1" dirty="0"/>
              <a:t>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dirty="0"/>
              <a:t>MainPage </a:t>
            </a:r>
            <a:r>
              <a:rPr lang="en-US" sz="1200" dirty="0"/>
              <a:t>– </a:t>
            </a:r>
            <a:r>
              <a:rPr lang="ru-RU" sz="1200" dirty="0"/>
              <a:t>главная страница</a:t>
            </a:r>
            <a:r>
              <a:rPr lang="en-US" sz="1200" dirty="0"/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dirty="0"/>
              <a:t>SearchPage </a:t>
            </a:r>
            <a:r>
              <a:rPr lang="en-US" sz="1200" dirty="0"/>
              <a:t>– </a:t>
            </a:r>
            <a:r>
              <a:rPr lang="ru-RU" sz="1200" dirty="0"/>
              <a:t>результаты поиска</a:t>
            </a:r>
            <a:r>
              <a:rPr lang="en-US" sz="1200" dirty="0"/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dirty="0"/>
              <a:t>ProductPage </a:t>
            </a:r>
            <a:r>
              <a:rPr lang="en-US" sz="1200" dirty="0"/>
              <a:t>– </a:t>
            </a:r>
            <a:r>
              <a:rPr lang="ru-RU" sz="1200" dirty="0"/>
              <a:t>карточка товара</a:t>
            </a:r>
            <a:r>
              <a:rPr lang="en-US" sz="1200" dirty="0"/>
              <a:t>.</a:t>
            </a:r>
          </a:p>
          <a:p>
            <a:endParaRPr lang="en-US" sz="1200" dirty="0"/>
          </a:p>
          <a:p>
            <a:pPr marL="432000" indent="-171450">
              <a:lnSpc>
                <a:spcPct val="200000"/>
              </a:lnSpc>
              <a:buFont typeface="Arial" panose="020B0604020202020204" pitchFamily="34" charset="0"/>
              <a:buChar char="●"/>
            </a:pPr>
            <a:r>
              <a:rPr lang="en-US" sz="1200" b="1" dirty="0"/>
              <a:t>CI/CD:</a:t>
            </a:r>
          </a:p>
          <a:p>
            <a:pPr marL="172800" indent="-171450">
              <a:buFont typeface="Arial" panose="020B0604020202020204" pitchFamily="34" charset="0"/>
              <a:buChar char="•"/>
            </a:pPr>
            <a:r>
              <a:rPr lang="en-US" sz="1200" b="1" dirty="0"/>
              <a:t>.github/workflows/ </a:t>
            </a:r>
            <a:r>
              <a:rPr lang="en-US" sz="1200" dirty="0"/>
              <a:t>- GitHub Actions </a:t>
            </a:r>
            <a:r>
              <a:rPr lang="ru-RU" sz="1200" dirty="0"/>
              <a:t>для автоматического запуска тестов</a:t>
            </a:r>
            <a:r>
              <a:rPr lang="en-US" sz="1200" dirty="0"/>
              <a:t>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1" name="Google Shape;131;g2bc48e537c7_0_219" descr="Рисунок 43"/>
          <p:cNvPicPr preferRelativeResize="0"/>
          <p:nvPr/>
        </p:nvPicPr>
        <p:blipFill rotWithShape="1">
          <a:blip r:embed="rId3">
            <a:alphaModFix/>
          </a:blip>
          <a:srcRect b="33409"/>
          <a:stretch/>
        </p:blipFill>
        <p:spPr>
          <a:xfrm>
            <a:off x="530226" y="1718391"/>
            <a:ext cx="2571751" cy="3425110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g2bc48e537c7_0_219"/>
          <p:cNvSpPr/>
          <p:nvPr/>
        </p:nvSpPr>
        <p:spPr>
          <a:xfrm>
            <a:off x="720000" y="613"/>
            <a:ext cx="8181900" cy="5143500"/>
          </a:xfrm>
          <a:prstGeom prst="rect">
            <a:avLst/>
          </a:prstGeom>
          <a:solidFill>
            <a:srgbClr val="F7F7F8"/>
          </a:soli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g2bc48e537c7_0_219"/>
          <p:cNvSpPr txBox="1">
            <a:spLocks noGrp="1"/>
          </p:cNvSpPr>
          <p:nvPr>
            <p:ph type="sldNum" idx="4294967295"/>
          </p:nvPr>
        </p:nvSpPr>
        <p:spPr>
          <a:xfrm>
            <a:off x="271708" y="384810"/>
            <a:ext cx="174900" cy="24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b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Montserrat"/>
              <a:buNone/>
            </a:pPr>
            <a:fld id="{00000000-1234-1234-1234-123412341234}" type="slidenum">
              <a:rPr lang="en-US" sz="10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6</a:t>
            </a:fld>
            <a:endParaRPr/>
          </a:p>
        </p:txBody>
      </p:sp>
      <p:grpSp>
        <p:nvGrpSpPr>
          <p:cNvPr id="134" name="Google Shape;134;g2bc48e537c7_0_219"/>
          <p:cNvGrpSpPr/>
          <p:nvPr/>
        </p:nvGrpSpPr>
        <p:grpSpPr>
          <a:xfrm>
            <a:off x="274005" y="700087"/>
            <a:ext cx="180300" cy="4068812"/>
            <a:chOff x="0" y="0"/>
            <a:chExt cx="180300" cy="4068812"/>
          </a:xfrm>
        </p:grpSpPr>
        <p:sp>
          <p:nvSpPr>
            <p:cNvPr id="135" name="Google Shape;135;g2bc48e537c7_0_219"/>
            <p:cNvSpPr txBox="1"/>
            <p:nvPr/>
          </p:nvSpPr>
          <p:spPr>
            <a:xfrm rot="-5400000">
              <a:off x="-603900" y="1794218"/>
              <a:ext cx="1388100" cy="180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700" tIns="45700" rIns="45700" bIns="45700" anchor="b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00"/>
                <a:buFont typeface="Montserrat"/>
                <a:buNone/>
              </a:pPr>
              <a:r>
                <a:rPr lang="en-US" sz="600" b="0" i="0" u="none" strike="noStrike" cap="none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teachmeskills.by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36" name="Google Shape;136;g2bc48e537c7_0_219"/>
            <p:cNvCxnSpPr/>
            <p:nvPr/>
          </p:nvCxnSpPr>
          <p:spPr>
            <a:xfrm>
              <a:off x="93344" y="2436812"/>
              <a:ext cx="0" cy="1632000"/>
            </a:xfrm>
            <a:prstGeom prst="straightConnector1">
              <a:avLst/>
            </a:prstGeom>
            <a:noFill/>
            <a:ln w="9525" cap="flat" cmpd="sng">
              <a:solidFill>
                <a:srgbClr val="E3E4E5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137" name="Google Shape;137;g2bc48e537c7_0_219"/>
            <p:cNvCxnSpPr/>
            <p:nvPr/>
          </p:nvCxnSpPr>
          <p:spPr>
            <a:xfrm>
              <a:off x="93344" y="0"/>
              <a:ext cx="0" cy="1363800"/>
            </a:xfrm>
            <a:prstGeom prst="straightConnector1">
              <a:avLst/>
            </a:prstGeom>
            <a:noFill/>
            <a:ln w="9525" cap="flat" cmpd="sng">
              <a:solidFill>
                <a:srgbClr val="E3E4E5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sp>
        <p:nvSpPr>
          <p:cNvPr id="138" name="Google Shape;138;g2bc48e537c7_0_219"/>
          <p:cNvSpPr txBox="1">
            <a:spLocks noGrp="1"/>
          </p:cNvSpPr>
          <p:nvPr>
            <p:ph type="title"/>
          </p:nvPr>
        </p:nvSpPr>
        <p:spPr>
          <a:xfrm>
            <a:off x="720000" y="133200"/>
            <a:ext cx="7365600" cy="5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b" anchorCtr="0">
            <a:noAutofit/>
          </a:bodyPr>
          <a:lstStyle/>
          <a:p>
            <a:pPr marL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600" b="1" dirty="0">
                <a:latin typeface="Arial"/>
                <a:ea typeface="Arial"/>
                <a:cs typeface="Arial"/>
                <a:sym typeface="Arial"/>
              </a:rPr>
              <a:t>Структура тестов</a:t>
            </a:r>
            <a:endParaRPr sz="2600" b="1" dirty="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" name="Google Shape;139;g2bc48e537c7_0_219"/>
          <p:cNvSpPr txBox="1"/>
          <p:nvPr/>
        </p:nvSpPr>
        <p:spPr>
          <a:xfrm>
            <a:off x="2063575" y="1806365"/>
            <a:ext cx="1142100" cy="106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b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1E2E6"/>
              </a:buClr>
              <a:buSzPts val="6400"/>
              <a:buFont typeface="Montserrat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g2bc48e537c7_0_219"/>
          <p:cNvSpPr txBox="1"/>
          <p:nvPr/>
        </p:nvSpPr>
        <p:spPr>
          <a:xfrm>
            <a:off x="2063575" y="2808990"/>
            <a:ext cx="1142100" cy="106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b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1E2E6"/>
              </a:buClr>
              <a:buSzPts val="6400"/>
              <a:buFont typeface="Montserrat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g2bc48e537c7_0_219"/>
          <p:cNvSpPr txBox="1"/>
          <p:nvPr/>
        </p:nvSpPr>
        <p:spPr>
          <a:xfrm>
            <a:off x="719999" y="590400"/>
            <a:ext cx="7365600" cy="44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indent="-23040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+mj-lt"/>
              <a:buAutoNum type="arabicPeriod"/>
            </a:pPr>
            <a:r>
              <a:rPr lang="en-US" sz="1200" b="1" dirty="0">
                <a:solidFill>
                  <a:schemeClr val="dk1"/>
                </a:solidFill>
              </a:rPr>
              <a:t>Фикстуры:</a:t>
            </a:r>
          </a:p>
          <a:p>
            <a:pPr marL="288000" lvl="1" indent="-230400">
              <a:spcBef>
                <a:spcPts val="600"/>
              </a:spcBef>
              <a:buClr>
                <a:schemeClr val="dk1"/>
              </a:buClr>
              <a:buSzPts val="1000"/>
              <a:buFont typeface="Courier New" panose="02070309020205020404" pitchFamily="49" charset="0"/>
              <a:buChar char="o"/>
            </a:pPr>
            <a:r>
              <a:rPr lang="en-US" sz="1200" dirty="0">
                <a:solidFill>
                  <a:srgbClr val="188038"/>
                </a:solidFill>
              </a:rPr>
              <a:t>page </a:t>
            </a:r>
            <a:r>
              <a:rPr lang="en-US" sz="1200" dirty="0">
                <a:solidFill>
                  <a:schemeClr val="tx1"/>
                </a:solidFill>
              </a:rPr>
              <a:t>–</a:t>
            </a:r>
            <a:r>
              <a:rPr lang="en-US" sz="1200" dirty="0">
                <a:solidFill>
                  <a:srgbClr val="188038"/>
                </a:solidFill>
              </a:rPr>
              <a:t> </a:t>
            </a:r>
            <a:r>
              <a:rPr lang="ru-RU" sz="1200" dirty="0">
                <a:solidFill>
                  <a:schemeClr val="tx1"/>
                </a:solidFill>
              </a:rPr>
              <a:t>создаёт бразуер</a:t>
            </a:r>
            <a:r>
              <a:rPr lang="en-US" sz="1200" dirty="0">
                <a:solidFill>
                  <a:schemeClr val="tx1"/>
                </a:solidFill>
              </a:rPr>
              <a:t>,</a:t>
            </a:r>
            <a:r>
              <a:rPr lang="ru-RU" sz="1200" dirty="0">
                <a:solidFill>
                  <a:schemeClr val="tx1"/>
                </a:solidFill>
              </a:rPr>
              <a:t> настраивает </a:t>
            </a:r>
            <a:r>
              <a:rPr lang="en-US" sz="1200" dirty="0">
                <a:solidFill>
                  <a:schemeClr val="tx1"/>
                </a:solidFill>
              </a:rPr>
              <a:t>‘headless’ </a:t>
            </a:r>
            <a:r>
              <a:rPr lang="ru-RU" sz="1200" dirty="0">
                <a:solidFill>
                  <a:schemeClr val="tx1"/>
                </a:solidFill>
              </a:rPr>
              <a:t>и </a:t>
            </a:r>
            <a:r>
              <a:rPr lang="en-US" sz="1200" dirty="0">
                <a:solidFill>
                  <a:schemeClr val="tx1"/>
                </a:solidFill>
              </a:rPr>
              <a:t>‘slow_mo’.</a:t>
            </a:r>
          </a:p>
          <a:p>
            <a:pPr marL="288000" lvl="1" indent="-230400">
              <a:spcBef>
                <a:spcPts val="600"/>
              </a:spcBef>
              <a:buClr>
                <a:schemeClr val="dk1"/>
              </a:buClr>
              <a:buSzPts val="1000"/>
              <a:buFont typeface="Courier New" panose="02070309020205020404" pitchFamily="49" charset="0"/>
              <a:buChar char="o"/>
            </a:pPr>
            <a:r>
              <a:rPr lang="en-US" sz="1200" dirty="0">
                <a:solidFill>
                  <a:srgbClr val="188038"/>
                </a:solidFill>
              </a:rPr>
              <a:t>is_ci </a:t>
            </a:r>
            <a:r>
              <a:rPr lang="en-US" sz="1200" dirty="0">
                <a:solidFill>
                  <a:schemeClr val="tx1"/>
                </a:solidFill>
              </a:rPr>
              <a:t>– </a:t>
            </a:r>
            <a:r>
              <a:rPr lang="ru-RU" sz="1200" dirty="0">
                <a:solidFill>
                  <a:schemeClr val="tx1"/>
                </a:solidFill>
              </a:rPr>
              <a:t>автоматически переключает режимы в </a:t>
            </a:r>
            <a:r>
              <a:rPr lang="en-US" sz="1200" dirty="0">
                <a:solidFill>
                  <a:schemeClr val="tx1"/>
                </a:solidFill>
              </a:rPr>
              <a:t>CI.</a:t>
            </a:r>
          </a:p>
          <a:p>
            <a:pPr marL="228600" lvl="1" indent="-228600">
              <a:spcBef>
                <a:spcPts val="600"/>
              </a:spcBef>
              <a:buClr>
                <a:schemeClr val="dk1"/>
              </a:buClr>
              <a:buSzPts val="1000"/>
              <a:buFont typeface="+mj-lt"/>
              <a:buAutoNum type="arabicPeriod" startAt="2"/>
            </a:pPr>
            <a:r>
              <a:rPr lang="en-US" sz="1200" b="1" dirty="0">
                <a:solidFill>
                  <a:schemeClr val="tx1"/>
                </a:solidFill>
              </a:rPr>
              <a:t>Page Object Pattern:</a:t>
            </a:r>
            <a:endParaRPr lang="ru-RU" sz="1200" b="1" dirty="0">
              <a:solidFill>
                <a:schemeClr val="tx1"/>
              </a:solidFill>
            </a:endParaRPr>
          </a:p>
          <a:p>
            <a:pPr marL="288000" lvl="2" indent="-228600">
              <a:spcBef>
                <a:spcPts val="600"/>
              </a:spcBef>
              <a:buClr>
                <a:schemeClr val="dk1"/>
              </a:buClr>
              <a:buSzPts val="1000"/>
              <a:buFont typeface="Courier New" panose="02070309020205020404" pitchFamily="49" charset="0"/>
              <a:buChar char="o"/>
            </a:pPr>
            <a:r>
              <a:rPr lang="en-US" sz="1200" dirty="0">
                <a:solidFill>
                  <a:srgbClr val="188038"/>
                </a:solidFill>
              </a:rPr>
              <a:t>pages/ </a:t>
            </a:r>
            <a:r>
              <a:rPr lang="en-US" sz="1200" dirty="0">
                <a:solidFill>
                  <a:schemeClr val="tx1"/>
                </a:solidFill>
              </a:rPr>
              <a:t>- </a:t>
            </a:r>
            <a:r>
              <a:rPr lang="ru-RU" sz="1200" dirty="0">
                <a:solidFill>
                  <a:schemeClr val="tx1"/>
                </a:solidFill>
              </a:rPr>
              <a:t>классы страниц (</a:t>
            </a:r>
            <a:r>
              <a:rPr lang="en-US" sz="1200" dirty="0">
                <a:solidFill>
                  <a:schemeClr val="tx1"/>
                </a:solidFill>
              </a:rPr>
              <a:t>MainPage, SearchPage, ProductPage).</a:t>
            </a:r>
          </a:p>
          <a:p>
            <a:pPr marL="288000" lvl="2" indent="-228600">
              <a:spcBef>
                <a:spcPts val="600"/>
              </a:spcBef>
              <a:buClr>
                <a:schemeClr val="dk1"/>
              </a:buClr>
              <a:buSzPts val="1000"/>
              <a:buFont typeface="Courier New" panose="02070309020205020404" pitchFamily="49" charset="0"/>
              <a:buChar char="o"/>
            </a:pPr>
            <a:r>
              <a:rPr lang="en-US" sz="1200" dirty="0">
                <a:solidFill>
                  <a:srgbClr val="188038"/>
                </a:solidFill>
              </a:rPr>
              <a:t>BasePage </a:t>
            </a:r>
            <a:r>
              <a:rPr lang="en-US" sz="1200" dirty="0">
                <a:solidFill>
                  <a:schemeClr val="tx1"/>
                </a:solidFill>
              </a:rPr>
              <a:t>– </a:t>
            </a:r>
            <a:r>
              <a:rPr lang="ru-RU" sz="1200" dirty="0">
                <a:solidFill>
                  <a:schemeClr val="tx1"/>
                </a:solidFill>
              </a:rPr>
              <a:t>общие методы (клик</a:t>
            </a:r>
            <a:r>
              <a:rPr lang="en-US" sz="1200" dirty="0">
                <a:solidFill>
                  <a:schemeClr val="tx1"/>
                </a:solidFill>
              </a:rPr>
              <a:t>,</a:t>
            </a:r>
            <a:r>
              <a:rPr lang="ru-RU" sz="1200" dirty="0">
                <a:solidFill>
                  <a:schemeClr val="tx1"/>
                </a:solidFill>
              </a:rPr>
              <a:t> ввод</a:t>
            </a:r>
            <a:r>
              <a:rPr lang="en-US" sz="1200" dirty="0">
                <a:solidFill>
                  <a:schemeClr val="tx1"/>
                </a:solidFill>
              </a:rPr>
              <a:t>,</a:t>
            </a:r>
            <a:r>
              <a:rPr lang="ru-RU" sz="1200" dirty="0">
                <a:solidFill>
                  <a:schemeClr val="tx1"/>
                </a:solidFill>
              </a:rPr>
              <a:t> ожидание)</a:t>
            </a:r>
            <a:r>
              <a:rPr lang="en-US" sz="1200" dirty="0">
                <a:solidFill>
                  <a:schemeClr val="tx1"/>
                </a:solidFill>
              </a:rPr>
              <a:t>.</a:t>
            </a:r>
          </a:p>
          <a:p>
            <a:pPr marL="228600" lvl="2" indent="-228600">
              <a:spcBef>
                <a:spcPts val="600"/>
              </a:spcBef>
              <a:buClr>
                <a:schemeClr val="dk1"/>
              </a:buClr>
              <a:buSzPts val="1000"/>
              <a:buFont typeface="+mj-lt"/>
              <a:buAutoNum type="arabicPeriod" startAt="3"/>
            </a:pPr>
            <a:r>
              <a:rPr lang="en-US" sz="1200" b="1" dirty="0">
                <a:solidFill>
                  <a:schemeClr val="tx1"/>
                </a:solidFill>
              </a:rPr>
              <a:t>Allure </a:t>
            </a:r>
            <a:r>
              <a:rPr lang="ru-RU" sz="1200" b="1" dirty="0">
                <a:solidFill>
                  <a:schemeClr val="tx1"/>
                </a:solidFill>
              </a:rPr>
              <a:t>аннотации</a:t>
            </a:r>
            <a:r>
              <a:rPr lang="en-US" sz="1200" b="1" dirty="0">
                <a:solidFill>
                  <a:schemeClr val="tx1"/>
                </a:solidFill>
              </a:rPr>
              <a:t>:</a:t>
            </a:r>
          </a:p>
          <a:p>
            <a:pPr marL="288000" lvl="3" indent="-228600">
              <a:spcBef>
                <a:spcPts val="600"/>
              </a:spcBef>
              <a:buClr>
                <a:schemeClr val="dk1"/>
              </a:buClr>
              <a:buSzPts val="1000"/>
              <a:buFont typeface="Courier New" panose="02070309020205020404" pitchFamily="49" charset="0"/>
              <a:buChar char="o"/>
            </a:pPr>
            <a:r>
              <a:rPr lang="en-US" sz="1200" dirty="0">
                <a:solidFill>
                  <a:srgbClr val="188038"/>
                </a:solidFill>
              </a:rPr>
              <a:t>@allure.epic </a:t>
            </a:r>
            <a:r>
              <a:rPr lang="en-US" sz="1200" dirty="0">
                <a:solidFill>
                  <a:schemeClr val="tx1"/>
                </a:solidFill>
              </a:rPr>
              <a:t>– </a:t>
            </a:r>
            <a:r>
              <a:rPr lang="ru-RU" sz="1200" dirty="0">
                <a:solidFill>
                  <a:schemeClr val="tx1"/>
                </a:solidFill>
              </a:rPr>
              <a:t>группировка по модулям</a:t>
            </a:r>
            <a:r>
              <a:rPr lang="en-US" sz="1200" dirty="0">
                <a:solidFill>
                  <a:schemeClr val="tx1"/>
                </a:solidFill>
              </a:rPr>
              <a:t>.</a:t>
            </a:r>
          </a:p>
          <a:p>
            <a:pPr marL="288000" lvl="3" indent="-228600">
              <a:spcBef>
                <a:spcPts val="600"/>
              </a:spcBef>
              <a:buClr>
                <a:schemeClr val="dk1"/>
              </a:buClr>
              <a:buSzPts val="1000"/>
              <a:buFont typeface="Courier New" panose="02070309020205020404" pitchFamily="49" charset="0"/>
              <a:buChar char="o"/>
            </a:pPr>
            <a:r>
              <a:rPr lang="en-US" sz="1200" dirty="0">
                <a:solidFill>
                  <a:srgbClr val="188038"/>
                </a:solidFill>
              </a:rPr>
              <a:t>@allure.feature </a:t>
            </a:r>
            <a:r>
              <a:rPr lang="en-US" sz="1200" dirty="0">
                <a:solidFill>
                  <a:schemeClr val="tx1"/>
                </a:solidFill>
              </a:rPr>
              <a:t>– </a:t>
            </a:r>
            <a:r>
              <a:rPr lang="ru-RU" sz="1200" dirty="0">
                <a:solidFill>
                  <a:schemeClr val="tx1"/>
                </a:solidFill>
              </a:rPr>
              <a:t>функциональность</a:t>
            </a:r>
            <a:r>
              <a:rPr lang="en-US" sz="1200" dirty="0">
                <a:solidFill>
                  <a:schemeClr val="tx1"/>
                </a:solidFill>
              </a:rPr>
              <a:t>.</a:t>
            </a:r>
          </a:p>
          <a:p>
            <a:pPr marL="288000" lvl="3" indent="-228600">
              <a:spcBef>
                <a:spcPts val="600"/>
              </a:spcBef>
              <a:buClr>
                <a:schemeClr val="dk1"/>
              </a:buClr>
              <a:buSzPts val="1000"/>
              <a:buFont typeface="Courier New" panose="02070309020205020404" pitchFamily="49" charset="0"/>
              <a:buChar char="o"/>
            </a:pPr>
            <a:r>
              <a:rPr lang="en-US" sz="1200" dirty="0">
                <a:solidFill>
                  <a:srgbClr val="188038"/>
                </a:solidFill>
              </a:rPr>
              <a:t>@allure.story </a:t>
            </a:r>
            <a:r>
              <a:rPr lang="en-US" sz="1200" dirty="0">
                <a:solidFill>
                  <a:schemeClr val="tx1"/>
                </a:solidFill>
              </a:rPr>
              <a:t>– </a:t>
            </a:r>
            <a:r>
              <a:rPr lang="ru-RU" sz="1200" dirty="0">
                <a:solidFill>
                  <a:schemeClr val="tx1"/>
                </a:solidFill>
              </a:rPr>
              <a:t>конкретный сценарий</a:t>
            </a:r>
            <a:r>
              <a:rPr lang="en-US" sz="1200" dirty="0">
                <a:solidFill>
                  <a:schemeClr val="tx1"/>
                </a:solidFill>
              </a:rPr>
              <a:t>.</a:t>
            </a:r>
          </a:p>
          <a:p>
            <a:pPr marL="228600" lvl="3" indent="-228600">
              <a:spcBef>
                <a:spcPts val="600"/>
              </a:spcBef>
              <a:buClr>
                <a:schemeClr val="dk1"/>
              </a:buClr>
              <a:buSzPts val="1000"/>
              <a:buFont typeface="+mj-lt"/>
              <a:buAutoNum type="arabicPeriod" startAt="4"/>
            </a:pPr>
            <a:r>
              <a:rPr lang="ru-RU" sz="1200" b="1" dirty="0">
                <a:solidFill>
                  <a:schemeClr val="tx1"/>
                </a:solidFill>
              </a:rPr>
              <a:t>Логирование и отладка</a:t>
            </a:r>
            <a:r>
              <a:rPr lang="en-US" sz="1200" b="1" dirty="0">
                <a:solidFill>
                  <a:schemeClr val="tx1"/>
                </a:solidFill>
              </a:rPr>
              <a:t>:</a:t>
            </a:r>
          </a:p>
          <a:p>
            <a:pPr marL="288000" lvl="4" indent="-228600">
              <a:spcBef>
                <a:spcPts val="600"/>
              </a:spcBef>
              <a:buClr>
                <a:schemeClr val="dk1"/>
              </a:buClr>
              <a:buSzPts val="1000"/>
              <a:buFont typeface="Courier New" panose="02070309020205020404" pitchFamily="49" charset="0"/>
              <a:buChar char="o"/>
            </a:pPr>
            <a:r>
              <a:rPr lang="en-US" sz="1200" dirty="0">
                <a:solidFill>
                  <a:srgbClr val="188038"/>
                </a:solidFill>
              </a:rPr>
              <a:t>print() </a:t>
            </a:r>
            <a:r>
              <a:rPr lang="en-US" sz="1200" dirty="0">
                <a:solidFill>
                  <a:schemeClr val="tx1"/>
                </a:solidFill>
              </a:rPr>
              <a:t>– </a:t>
            </a:r>
            <a:r>
              <a:rPr lang="ru-RU" sz="1200" dirty="0">
                <a:solidFill>
                  <a:schemeClr val="tx1"/>
                </a:solidFill>
              </a:rPr>
              <a:t>в консоль для диагностики</a:t>
            </a:r>
            <a:r>
              <a:rPr lang="en-US" sz="1200" dirty="0">
                <a:solidFill>
                  <a:schemeClr val="tx1"/>
                </a:solidFill>
              </a:rPr>
              <a:t>.</a:t>
            </a:r>
          </a:p>
          <a:p>
            <a:pPr marL="288000" lvl="4" indent="-228600">
              <a:spcBef>
                <a:spcPts val="600"/>
              </a:spcBef>
              <a:buClr>
                <a:schemeClr val="dk1"/>
              </a:buClr>
              <a:buSzPts val="1000"/>
              <a:buFont typeface="Courier New" panose="02070309020205020404" pitchFamily="49" charset="0"/>
              <a:buChar char="o"/>
            </a:pPr>
            <a:r>
              <a:rPr lang="ru-RU" sz="1200" dirty="0">
                <a:solidFill>
                  <a:srgbClr val="188038"/>
                </a:solidFill>
              </a:rPr>
              <a:t>Параметризация </a:t>
            </a:r>
            <a:r>
              <a:rPr lang="ru-RU" sz="1200" dirty="0">
                <a:solidFill>
                  <a:schemeClr val="tx1"/>
                </a:solidFill>
              </a:rPr>
              <a:t>– один тест на 5 категорий</a:t>
            </a:r>
            <a:r>
              <a:rPr lang="en-US" sz="1200" dirty="0">
                <a:solidFill>
                  <a:schemeClr val="tx1"/>
                </a:solidFill>
              </a:rPr>
              <a:t>.</a:t>
            </a:r>
          </a:p>
          <a:p>
            <a:pPr marL="228600" lvl="4" indent="-228600">
              <a:spcBef>
                <a:spcPts val="600"/>
              </a:spcBef>
              <a:buClr>
                <a:schemeClr val="dk1"/>
              </a:buClr>
              <a:buSzPts val="1000"/>
              <a:buFont typeface="+mj-lt"/>
              <a:buAutoNum type="arabicPeriod" startAt="5"/>
            </a:pPr>
            <a:r>
              <a:rPr lang="ru-RU" sz="1200" b="1" dirty="0">
                <a:solidFill>
                  <a:schemeClr val="tx1"/>
                </a:solidFill>
              </a:rPr>
              <a:t>Проверки</a:t>
            </a:r>
            <a:r>
              <a:rPr lang="en-US" sz="1200" b="1" dirty="0">
                <a:solidFill>
                  <a:schemeClr val="tx1"/>
                </a:solidFill>
              </a:rPr>
              <a:t>:</a:t>
            </a:r>
          </a:p>
          <a:p>
            <a:pPr marL="288000" lvl="5" indent="-228600">
              <a:spcBef>
                <a:spcPts val="600"/>
              </a:spcBef>
              <a:buClr>
                <a:schemeClr val="dk1"/>
              </a:buClr>
              <a:buSzPts val="1000"/>
              <a:buFont typeface="Courier New" panose="02070309020205020404" pitchFamily="49" charset="0"/>
              <a:buChar char="o"/>
            </a:pPr>
            <a:r>
              <a:rPr lang="en-US" sz="1200" dirty="0">
                <a:solidFill>
                  <a:srgbClr val="188038"/>
                </a:solidFill>
              </a:rPr>
              <a:t>assert </a:t>
            </a:r>
            <a:r>
              <a:rPr lang="en-US" sz="1200" dirty="0">
                <a:solidFill>
                  <a:schemeClr val="tx1"/>
                </a:solidFill>
              </a:rPr>
              <a:t>– </a:t>
            </a:r>
            <a:r>
              <a:rPr lang="ru-RU" sz="1200" dirty="0">
                <a:solidFill>
                  <a:schemeClr val="tx1"/>
                </a:solidFill>
              </a:rPr>
              <a:t>конкретные проверки (статус</a:t>
            </a:r>
            <a:r>
              <a:rPr lang="en-US" sz="1200" dirty="0">
                <a:solidFill>
                  <a:schemeClr val="tx1"/>
                </a:solidFill>
              </a:rPr>
              <a:t>,</a:t>
            </a:r>
            <a:r>
              <a:rPr lang="ru-RU" sz="1200" dirty="0">
                <a:solidFill>
                  <a:schemeClr val="tx1"/>
                </a:solidFill>
              </a:rPr>
              <a:t> текст</a:t>
            </a:r>
            <a:r>
              <a:rPr lang="en-US" sz="1200" dirty="0">
                <a:solidFill>
                  <a:schemeClr val="tx1"/>
                </a:solidFill>
              </a:rPr>
              <a:t>,</a:t>
            </a:r>
            <a:r>
              <a:rPr lang="ru-RU" sz="1200" dirty="0">
                <a:solidFill>
                  <a:schemeClr val="tx1"/>
                </a:solidFill>
              </a:rPr>
              <a:t> видимость</a:t>
            </a:r>
            <a:r>
              <a:rPr lang="en-US" sz="1200" dirty="0">
                <a:solidFill>
                  <a:schemeClr val="tx1"/>
                </a:solidFill>
              </a:rPr>
              <a:t>).</a:t>
            </a:r>
            <a:endParaRPr lang="en-US" sz="1200" b="1" dirty="0">
              <a:solidFill>
                <a:schemeClr val="tx1"/>
              </a:solidFill>
            </a:endParaRPr>
          </a:p>
        </p:txBody>
      </p:sp>
      <p:pic>
        <p:nvPicPr>
          <p:cNvPr id="142" name="Google Shape;142;g2bc48e537c7_0_219" descr="Рисунок 4"/>
          <p:cNvPicPr preferRelativeResize="0"/>
          <p:nvPr/>
        </p:nvPicPr>
        <p:blipFill rotWithShape="1">
          <a:blip r:embed="rId4">
            <a:alphaModFix/>
          </a:blip>
          <a:srcRect l="87441"/>
          <a:stretch/>
        </p:blipFill>
        <p:spPr>
          <a:xfrm>
            <a:off x="8087552" y="0"/>
            <a:ext cx="1056451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7" name="Google Shape;147;g24463cab762_0_136" descr="Рисунок 43"/>
          <p:cNvPicPr preferRelativeResize="0"/>
          <p:nvPr/>
        </p:nvPicPr>
        <p:blipFill rotWithShape="1">
          <a:blip r:embed="rId3">
            <a:alphaModFix/>
          </a:blip>
          <a:srcRect b="33409"/>
          <a:stretch/>
        </p:blipFill>
        <p:spPr>
          <a:xfrm>
            <a:off x="530226" y="1718391"/>
            <a:ext cx="2571751" cy="3425110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g24463cab762_0_136"/>
          <p:cNvSpPr/>
          <p:nvPr/>
        </p:nvSpPr>
        <p:spPr>
          <a:xfrm>
            <a:off x="720000" y="0"/>
            <a:ext cx="8181900" cy="5143500"/>
          </a:xfrm>
          <a:prstGeom prst="rect">
            <a:avLst/>
          </a:prstGeom>
          <a:solidFill>
            <a:srgbClr val="F7F7F8"/>
          </a:soli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g24463cab762_0_136"/>
          <p:cNvSpPr txBox="1">
            <a:spLocks noGrp="1"/>
          </p:cNvSpPr>
          <p:nvPr>
            <p:ph type="sldNum" idx="4294967295"/>
          </p:nvPr>
        </p:nvSpPr>
        <p:spPr>
          <a:xfrm>
            <a:off x="271708" y="384810"/>
            <a:ext cx="174900" cy="24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b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Montserrat"/>
              <a:buNone/>
            </a:pPr>
            <a:fld id="{00000000-1234-1234-1234-123412341234}" type="slidenum">
              <a:rPr lang="en-US" sz="10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7</a:t>
            </a:fld>
            <a:endParaRPr/>
          </a:p>
        </p:txBody>
      </p:sp>
      <p:grpSp>
        <p:nvGrpSpPr>
          <p:cNvPr id="150" name="Google Shape;150;g24463cab762_0_136"/>
          <p:cNvGrpSpPr/>
          <p:nvPr/>
        </p:nvGrpSpPr>
        <p:grpSpPr>
          <a:xfrm>
            <a:off x="274005" y="700087"/>
            <a:ext cx="180300" cy="4068812"/>
            <a:chOff x="0" y="0"/>
            <a:chExt cx="180300" cy="4068812"/>
          </a:xfrm>
        </p:grpSpPr>
        <p:sp>
          <p:nvSpPr>
            <p:cNvPr id="151" name="Google Shape;151;g24463cab762_0_136"/>
            <p:cNvSpPr txBox="1"/>
            <p:nvPr/>
          </p:nvSpPr>
          <p:spPr>
            <a:xfrm rot="-5400000">
              <a:off x="-603900" y="1794218"/>
              <a:ext cx="1388100" cy="180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700" tIns="45700" rIns="45700" bIns="45700" anchor="b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00"/>
                <a:buFont typeface="Montserrat"/>
                <a:buNone/>
              </a:pPr>
              <a:r>
                <a:rPr lang="en-US" sz="600" b="0" i="0" u="none" strike="noStrike" cap="none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teachmeskills.by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52" name="Google Shape;152;g24463cab762_0_136"/>
            <p:cNvCxnSpPr/>
            <p:nvPr/>
          </p:nvCxnSpPr>
          <p:spPr>
            <a:xfrm>
              <a:off x="93344" y="2436812"/>
              <a:ext cx="0" cy="1632000"/>
            </a:xfrm>
            <a:prstGeom prst="straightConnector1">
              <a:avLst/>
            </a:prstGeom>
            <a:noFill/>
            <a:ln w="9525" cap="flat" cmpd="sng">
              <a:solidFill>
                <a:srgbClr val="E3E4E5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153" name="Google Shape;153;g24463cab762_0_136"/>
            <p:cNvCxnSpPr/>
            <p:nvPr/>
          </p:nvCxnSpPr>
          <p:spPr>
            <a:xfrm>
              <a:off x="93344" y="0"/>
              <a:ext cx="0" cy="1363800"/>
            </a:xfrm>
            <a:prstGeom prst="straightConnector1">
              <a:avLst/>
            </a:prstGeom>
            <a:noFill/>
            <a:ln w="9525" cap="flat" cmpd="sng">
              <a:solidFill>
                <a:srgbClr val="E3E4E5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sp>
        <p:nvSpPr>
          <p:cNvPr id="154" name="Google Shape;154;g24463cab762_0_136"/>
          <p:cNvSpPr txBox="1">
            <a:spLocks noGrp="1"/>
          </p:cNvSpPr>
          <p:nvPr>
            <p:ph type="title"/>
          </p:nvPr>
        </p:nvSpPr>
        <p:spPr>
          <a:xfrm>
            <a:off x="720001" y="133200"/>
            <a:ext cx="7365600" cy="5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800" b="1" dirty="0">
                <a:latin typeface="Arial"/>
                <a:ea typeface="Arial"/>
                <a:cs typeface="Arial"/>
                <a:sym typeface="Arial"/>
              </a:rPr>
              <a:t>Allure Report отчет </a:t>
            </a:r>
            <a:endParaRPr sz="2800" b="1" dirty="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7" name="Google Shape;157;g24463cab762_0_136" descr="Рисунок 4"/>
          <p:cNvPicPr preferRelativeResize="0"/>
          <p:nvPr/>
        </p:nvPicPr>
        <p:blipFill rotWithShape="1">
          <a:blip r:embed="rId4">
            <a:alphaModFix/>
          </a:blip>
          <a:srcRect l="87441"/>
          <a:stretch/>
        </p:blipFill>
        <p:spPr>
          <a:xfrm>
            <a:off x="8087552" y="0"/>
            <a:ext cx="1056451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Рисунок 2" descr="Изображение выглядит как текст, снимок экрана, Шрифт, число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2876EF51-D2C5-2C3E-C4DE-57D1EF12736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47196" y="841945"/>
            <a:ext cx="5913160" cy="3459609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2" name="Google Shape;162;g2d9b3813896_1_20" descr="Рисунок 43"/>
          <p:cNvPicPr preferRelativeResize="0"/>
          <p:nvPr/>
        </p:nvPicPr>
        <p:blipFill rotWithShape="1">
          <a:blip r:embed="rId3">
            <a:alphaModFix/>
          </a:blip>
          <a:srcRect b="33409"/>
          <a:stretch/>
        </p:blipFill>
        <p:spPr>
          <a:xfrm>
            <a:off x="530226" y="1718391"/>
            <a:ext cx="2571751" cy="3425110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g2d9b3813896_1_20"/>
          <p:cNvSpPr txBox="1">
            <a:spLocks noGrp="1"/>
          </p:cNvSpPr>
          <p:nvPr>
            <p:ph type="sldNum" idx="4294967295"/>
          </p:nvPr>
        </p:nvSpPr>
        <p:spPr>
          <a:xfrm>
            <a:off x="271708" y="384810"/>
            <a:ext cx="174900" cy="24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b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Montserrat"/>
              <a:buNone/>
            </a:pPr>
            <a:fld id="{00000000-1234-1234-1234-123412341234}" type="slidenum">
              <a:rPr lang="en-US" sz="10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8</a:t>
            </a:fld>
            <a:endParaRPr/>
          </a:p>
        </p:txBody>
      </p:sp>
      <p:grpSp>
        <p:nvGrpSpPr>
          <p:cNvPr id="164" name="Google Shape;164;g2d9b3813896_1_20"/>
          <p:cNvGrpSpPr/>
          <p:nvPr/>
        </p:nvGrpSpPr>
        <p:grpSpPr>
          <a:xfrm>
            <a:off x="274005" y="700087"/>
            <a:ext cx="180300" cy="4068812"/>
            <a:chOff x="0" y="0"/>
            <a:chExt cx="180300" cy="4068812"/>
          </a:xfrm>
        </p:grpSpPr>
        <p:sp>
          <p:nvSpPr>
            <p:cNvPr id="165" name="Google Shape;165;g2d9b3813896_1_20"/>
            <p:cNvSpPr txBox="1"/>
            <p:nvPr/>
          </p:nvSpPr>
          <p:spPr>
            <a:xfrm rot="-5400000">
              <a:off x="-603900" y="1794218"/>
              <a:ext cx="1388100" cy="180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700" tIns="45700" rIns="45700" bIns="45700" anchor="b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00"/>
                <a:buFont typeface="Montserrat"/>
                <a:buNone/>
              </a:pPr>
              <a:r>
                <a:rPr lang="en-US" sz="600" b="0" i="0" u="none" strike="noStrike" cap="none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teachmeskills.by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66" name="Google Shape;166;g2d9b3813896_1_20"/>
            <p:cNvCxnSpPr/>
            <p:nvPr/>
          </p:nvCxnSpPr>
          <p:spPr>
            <a:xfrm>
              <a:off x="93344" y="2436812"/>
              <a:ext cx="0" cy="1632000"/>
            </a:xfrm>
            <a:prstGeom prst="straightConnector1">
              <a:avLst/>
            </a:prstGeom>
            <a:noFill/>
            <a:ln w="9525" cap="flat" cmpd="sng">
              <a:solidFill>
                <a:srgbClr val="E3E4E5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167" name="Google Shape;167;g2d9b3813896_1_20"/>
            <p:cNvCxnSpPr/>
            <p:nvPr/>
          </p:nvCxnSpPr>
          <p:spPr>
            <a:xfrm>
              <a:off x="93344" y="0"/>
              <a:ext cx="0" cy="1363800"/>
            </a:xfrm>
            <a:prstGeom prst="straightConnector1">
              <a:avLst/>
            </a:prstGeom>
            <a:noFill/>
            <a:ln w="9525" cap="flat" cmpd="sng">
              <a:solidFill>
                <a:srgbClr val="E3E4E5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sp>
        <p:nvSpPr>
          <p:cNvPr id="168" name="Google Shape;168;g2d9b3813896_1_20"/>
          <p:cNvSpPr txBox="1">
            <a:spLocks noGrp="1"/>
          </p:cNvSpPr>
          <p:nvPr>
            <p:ph type="title"/>
          </p:nvPr>
        </p:nvSpPr>
        <p:spPr>
          <a:xfrm>
            <a:off x="2019043" y="2293350"/>
            <a:ext cx="4075644" cy="55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800" b="1" dirty="0">
                <a:latin typeface="Arial"/>
                <a:ea typeface="Arial"/>
                <a:cs typeface="Arial"/>
                <a:sym typeface="Arial"/>
              </a:rPr>
              <a:t>Спасибо за внимание!</a:t>
            </a:r>
            <a:endParaRPr sz="2800" b="1" dirty="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71" name="Google Shape;171;g2d9b3813896_1_20" descr="Рисунок 4"/>
          <p:cNvPicPr preferRelativeResize="0"/>
          <p:nvPr/>
        </p:nvPicPr>
        <p:blipFill rotWithShape="1">
          <a:blip r:embed="rId4">
            <a:alphaModFix/>
          </a:blip>
          <a:srcRect l="87441"/>
          <a:stretch/>
        </p:blipFill>
        <p:spPr>
          <a:xfrm>
            <a:off x="8087552" y="0"/>
            <a:ext cx="1056451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Тема Offic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166</TotalTime>
  <Words>571</Words>
  <Application>Microsoft Office PowerPoint</Application>
  <PresentationFormat>Экран (16:9)</PresentationFormat>
  <Paragraphs>89</Paragraphs>
  <Slides>8</Slides>
  <Notes>8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8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8</vt:i4>
      </vt:variant>
    </vt:vector>
  </HeadingPairs>
  <TitlesOfParts>
    <vt:vector size="17" baseType="lpstr">
      <vt:lpstr>Courier New</vt:lpstr>
      <vt:lpstr>Comfortaa</vt:lpstr>
      <vt:lpstr>Arial</vt:lpstr>
      <vt:lpstr>Calibri</vt:lpstr>
      <vt:lpstr>Roboto</vt:lpstr>
      <vt:lpstr>Raleway</vt:lpstr>
      <vt:lpstr>Montserrat</vt:lpstr>
      <vt:lpstr>Helvetica Neue</vt:lpstr>
      <vt:lpstr>Тема Office</vt:lpstr>
      <vt:lpstr>Презентация PowerPoint</vt:lpstr>
      <vt:lpstr>Описание проекта</vt:lpstr>
      <vt:lpstr>Чек-лист для проекта wildberries.by</vt:lpstr>
      <vt:lpstr>Технологии</vt:lpstr>
      <vt:lpstr>Архитектура фреймворка</vt:lpstr>
      <vt:lpstr>Структура тестов</vt:lpstr>
      <vt:lpstr>Allure Report отчет </vt:lpstr>
      <vt:lpstr>Спасибо за внимание!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lyosha o</dc:creator>
  <cp:lastModifiedBy>lyosha o</cp:lastModifiedBy>
  <cp:revision>8</cp:revision>
  <dcterms:modified xsi:type="dcterms:W3CDTF">2026-07-21T09:52:43Z</dcterms:modified>
</cp:coreProperties>
</file>